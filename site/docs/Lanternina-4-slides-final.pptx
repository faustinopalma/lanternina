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60"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87"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9405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speaking time: 35 seconds. Total plan: 170 seconds plus 10 seconds for transitions. Start speaking on this slide; the existing section divider needs no separate introduction.,SPEAK: For a teenager with cognitive disabilities, finding something suitable to do after school can require daily support. Lanternina proposes activities on paper and with objects at home. A parent sets interests, language and timing, then reviews the initial proposal before approving it. The house makes the activity available at the chosen time. Between activities, the e-paper display shows a picture.,REFERENCE ONLY: Sources: https://www.lanternina.com/en/present/#1 and #2; site/src/i18n/presentation.ts and README.md, checked on 15 September 2026. These four slides follow the existing Lanternina / Fausto Palma divider. Opening photograph: https://www.lanternina.com/images/hero.jpg, cropped only at the sides to emphasize the display. The screen shows an illustration between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speaking time: 45 seconds.,SPEAK: Here the activity is to reconstruct an old railway from a map and clues. A second sheet leaves room to propose a route. The teenager works on paper and returns a photograph. Vision compares it with the blank sheet and describes the additions. The next response uses that reading and the original activity, so what comes back can change the next step. These blue additions were simulated by a model: they show the mechanism, not a trial with a person.,REFERENCE ONLY: Source: https://www.lanternina.com/en/present/#3. Assets: valle-lunga-map.webp and valle-lunga-written.webp. The supported photo path is separate from the unfinished handheld camera activity input. No educational or clinical benefit is established by this example.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speaking time: 35 seconds.,SPEAK: Agents in Azure plan the activity, draw the pages and interpret replies, using Microsoft Foundry models. The home hub requests and executes the plan: the printer produces pages and the display shows instructions. Photographs return through the hub to the agents, which prepare the next step. The hub opens connections to Azure. The parent approves the initial activity; generated text receives safety checks.,REFERENCE ONLY: Based on the updated local site/src/i18n/presentation.ts and the technology slide at https://www.lanternina.com/en/present/#4, checked on 15 September 2026. The public page fetch still returned the preceding layout. Arrows show logical content flow, not inbound network sessions from Azure. Agents run in Azure Container Apps and call Microsoft Foundry models; this diagram does not assert use of Foundry Agent Service. Printer image is an illustration; hub, display and camera images are photographs. Camera is labelled as a prototype: this diagram describes its intended activity role, not a freshly verified handheld-input implementation. Continuations receive automatic checks without a second parental approval. No model runs in the house. Educational value still needs trials with people.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11618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speaking time: 55 seconds. Finish by 2:50 to leave 10 seconds of margin.,SPEAK: Three principles guide the project. Cybersecurity protects the home and its data. Pedagogy asks whether the activities help people learn, through choice, reasoning and autonomy. Responsible AI connects directly to that purpose. We do not want another system that absorbs attention without giving anything back. Activities should be engaging, but should ask for effort suited to the person: choosing, trying and reasoning. That effort should support learning, not longer use. An activity has an ending. Success should be judged by educational value, not time spent. That value still needs to be tested with people.,REFERENCE ONLY: Source: site/src/i18n/presentation.ts, principles and speaker notes updated locally on 15 September 2026; user clarification in this presentation session. The public https://www.lanternina.com/en/present/#6 still returned the previous generic Responsible AI wording when fetched. Fairness, inclusion, transparency, content checks and human oversight remain necessary. Engagement and educational benefit are design goals, not measured outcomes. Appropriate effort means a challenge suited to the person, not difficulty for its own sake.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anternina.com/e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www.lanternina.com/en/"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www.lanternina.com/en/" TargetMode="External"/><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hyperlink" Target="https://www.lanternina.com/en/"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2011680" cy="219456"/>
          </a:xfrm>
          <a:prstGeom prst="rect">
            <a:avLst/>
          </a:prstGeom>
          <a:noFill/>
          <a:ln/>
        </p:spPr>
        <p:txBody>
          <a:bodyPr wrap="square" lIns="0" tIns="0" rIns="0" bIns="0" rtlCol="0" anchor="t"/>
          <a:lstStyle/>
          <a:p>
            <a:pPr marL="0" indent="0">
              <a:buNone/>
            </a:pPr>
            <a:r>
              <a:rPr lang="en-US" sz="1300" b="1" dirty="0">
                <a:solidFill>
                  <a:srgbClr val="242424"/>
                </a:solidFill>
                <a:latin typeface="Palatino Linotype" pitchFamily="34" charset="0"/>
                <a:ea typeface="Palatino Linotype" pitchFamily="34" charset="-122"/>
                <a:cs typeface="Palatino Linotype" pitchFamily="34" charset="-120"/>
              </a:rPr>
              <a:t>Lanternina</a:t>
            </a:r>
            <a:endParaRPr lang="en-US" sz="1300" dirty="0"/>
          </a:p>
        </p:txBody>
      </p:sp>
      <p:sp>
        <p:nvSpPr>
          <p:cNvPr id="3" name="Text 1"/>
          <p:cNvSpPr/>
          <p:nvPr/>
        </p:nvSpPr>
        <p:spPr>
          <a:xfrm>
            <a:off x="5166360" y="347472"/>
            <a:ext cx="3474720" cy="164592"/>
          </a:xfrm>
          <a:prstGeom prst="rect">
            <a:avLst/>
          </a:prstGeom>
          <a:noFill/>
          <a:ln/>
        </p:spPr>
        <p:txBody>
          <a:bodyPr wrap="square" lIns="0" tIns="0" rIns="0" bIns="0" rtlCol="0" anchor="t"/>
          <a:lstStyle/>
          <a:p>
            <a:pPr marL="0" indent="0" algn="r">
              <a:buNone/>
            </a:pPr>
            <a:r>
              <a:rPr lang="en-US" sz="900" b="1" dirty="0">
                <a:solidFill>
                  <a:srgbClr val="B11F4B"/>
                </a:solidFill>
                <a:latin typeface="Segoe UI" pitchFamily="34" charset="0"/>
                <a:ea typeface="Segoe UI" pitchFamily="34" charset="-122"/>
                <a:cs typeface="Segoe UI" pitchFamily="34" charset="-120"/>
              </a:rPr>
              <a:t>THE NEED</a:t>
            </a:r>
            <a:endParaRPr lang="en-US" sz="900" dirty="0"/>
          </a:p>
        </p:txBody>
      </p:sp>
      <p:sp>
        <p:nvSpPr>
          <p:cNvPr id="4" name="Text 2"/>
          <p:cNvSpPr/>
          <p:nvPr/>
        </p:nvSpPr>
        <p:spPr>
          <a:xfrm>
            <a:off x="502920" y="4782312"/>
            <a:ext cx="4023360" cy="164592"/>
          </a:xfrm>
          <a:prstGeom prst="rect">
            <a:avLst/>
          </a:prstGeom>
          <a:noFill/>
          <a:ln/>
        </p:spPr>
        <p:txBody>
          <a:bodyPr wrap="square" lIns="0" tIns="0" rIns="0" bIns="0" rtlCol="0" anchor="t"/>
          <a:lstStyle/>
          <a:p>
            <a:pPr marL="0" indent="0">
              <a:buNone/>
            </a:pPr>
            <a:r>
              <a:rPr lang="en-US" sz="900" dirty="0">
                <a:solidFill>
                  <a:srgbClr val="5C5C5C"/>
                </a:solidFill>
                <a:latin typeface="Segoe UI" pitchFamily="34" charset="0"/>
                <a:ea typeface="Segoe UI" pitchFamily="34" charset="-122"/>
                <a:cs typeface="Segoe UI" pitchFamily="34" charset="-120"/>
              </a:rPr>
              <a:t>Fausto Palma | Glauco Rocco | Hackathon 2026</a:t>
            </a:r>
            <a:endParaRPr lang="en-US" sz="900" dirty="0"/>
          </a:p>
        </p:txBody>
      </p:sp>
      <p:sp>
        <p:nvSpPr>
          <p:cNvPr id="5" name="Text 3">
            <a:hlinkClick r:id="rId3"/>
          </p:cNvPr>
          <p:cNvSpPr/>
          <p:nvPr/>
        </p:nvSpPr>
        <p:spPr>
          <a:xfrm>
            <a:off x="6858000" y="4764024"/>
            <a:ext cx="1417320" cy="201168"/>
          </a:xfrm>
          <a:prstGeom prst="rect">
            <a:avLst/>
          </a:prstGeom>
          <a:noFill/>
          <a:ln/>
        </p:spPr>
        <p:txBody>
          <a:bodyPr wrap="square" lIns="0" tIns="0" rIns="0" bIns="0" rtlCol="0" anchor="t"/>
          <a:lstStyle/>
          <a:p>
            <a:pPr marL="0" indent="0" algn="r">
              <a:buNone/>
            </a:pPr>
            <a:r>
              <a:rPr lang="en-US" sz="1000" u="sng" dirty="0">
                <a:solidFill>
                  <a:srgbClr val="B11F4B"/>
                </a:solidFill>
                <a:latin typeface="Segoe UI" pitchFamily="34" charset="0"/>
                <a:ea typeface="Segoe UI" pitchFamily="34" charset="-122"/>
                <a:cs typeface="Segoe UI" pitchFamily="34" charset="-120"/>
                <a:hlinkClick r:id="rId3">
                  <a:extLst>
                    <a:ext uri="{A12FA001-AC4F-418D-AE19-62706E023703}">
                      <ahyp:hlinkClr xmlns:ahyp="http://schemas.microsoft.com/office/drawing/2018/hyperlinkcolor" val="tx"/>
                    </a:ext>
                  </a:extLst>
                </a:hlinkClick>
              </a:rPr>
              <a:t>lanternina.com</a:t>
            </a:r>
            <a:endParaRPr lang="en-US" sz="1000" dirty="0"/>
          </a:p>
        </p:txBody>
      </p:sp>
      <p:sp>
        <p:nvSpPr>
          <p:cNvPr id="6" name="Text 4"/>
          <p:cNvSpPr/>
          <p:nvPr/>
        </p:nvSpPr>
        <p:spPr>
          <a:xfrm>
            <a:off x="8394192" y="4782312"/>
            <a:ext cx="246888" cy="164592"/>
          </a:xfrm>
          <a:prstGeom prst="rect">
            <a:avLst/>
          </a:prstGeom>
          <a:noFill/>
          <a:ln/>
        </p:spPr>
        <p:txBody>
          <a:bodyPr wrap="square" lIns="0" tIns="0" rIns="0" bIns="0" rtlCol="0" anchor="t"/>
          <a:lstStyle/>
          <a:p>
            <a:pPr marL="0" indent="0" algn="r">
              <a:buNone/>
            </a:pPr>
            <a:r>
              <a:rPr lang="en-US" sz="900" dirty="0">
                <a:solidFill>
                  <a:srgbClr val="5C5C5C"/>
                </a:solidFill>
                <a:latin typeface="Segoe UI" pitchFamily="34" charset="0"/>
                <a:ea typeface="Segoe UI" pitchFamily="34" charset="-122"/>
                <a:cs typeface="Segoe UI" pitchFamily="34" charset="-120"/>
              </a:rPr>
              <a:t>01</a:t>
            </a:r>
            <a:endParaRPr lang="en-US" sz="900" dirty="0"/>
          </a:p>
        </p:txBody>
      </p:sp>
      <p:sp>
        <p:nvSpPr>
          <p:cNvPr id="7" name="Text 5"/>
          <p:cNvSpPr/>
          <p:nvPr/>
        </p:nvSpPr>
        <p:spPr>
          <a:xfrm>
            <a:off x="502920" y="813816"/>
            <a:ext cx="3703320" cy="594360"/>
          </a:xfrm>
          <a:prstGeom prst="rect">
            <a:avLst/>
          </a:prstGeom>
          <a:noFill/>
          <a:ln/>
        </p:spPr>
        <p:txBody>
          <a:bodyPr wrap="square" lIns="0" tIns="0" rIns="0" bIns="0" rtlCol="0" anchor="t"/>
          <a:lstStyle/>
          <a:p>
            <a:pPr marL="0" indent="0">
              <a:buNone/>
            </a:pPr>
            <a:r>
              <a:rPr lang="en-US" sz="3900" b="1" dirty="0">
                <a:solidFill>
                  <a:srgbClr val="242424"/>
                </a:solidFill>
                <a:latin typeface="Palatino Linotype" pitchFamily="34" charset="0"/>
                <a:ea typeface="Palatino Linotype" pitchFamily="34" charset="-122"/>
                <a:cs typeface="Palatino Linotype" pitchFamily="34" charset="-120"/>
              </a:rPr>
              <a:t>Lanternina.</a:t>
            </a:r>
            <a:endParaRPr lang="en-US" sz="3900" dirty="0"/>
          </a:p>
        </p:txBody>
      </p:sp>
      <p:sp>
        <p:nvSpPr>
          <p:cNvPr id="8" name="Text 6"/>
          <p:cNvSpPr/>
          <p:nvPr/>
        </p:nvSpPr>
        <p:spPr>
          <a:xfrm>
            <a:off x="502920" y="1600200"/>
            <a:ext cx="3017520" cy="822960"/>
          </a:xfrm>
          <a:prstGeom prst="rect">
            <a:avLst/>
          </a:prstGeom>
          <a:noFill/>
          <a:ln/>
        </p:spPr>
        <p:txBody>
          <a:bodyPr wrap="square" lIns="0" tIns="0" rIns="0" bIns="0" rtlCol="0" anchor="t"/>
          <a:lstStyle/>
          <a:p>
            <a:pPr marL="0" indent="0">
              <a:buNone/>
            </a:pPr>
            <a:r>
              <a:rPr lang="en-US" sz="2600" b="1" dirty="0">
                <a:solidFill>
                  <a:srgbClr val="242424"/>
                </a:solidFill>
                <a:latin typeface="Segoe UI" pitchFamily="34" charset="0"/>
                <a:ea typeface="Segoe UI" pitchFamily="34" charset="-122"/>
                <a:cs typeface="Segoe UI" pitchFamily="34" charset="-120"/>
              </a:rPr>
              <a:t>Something to do after school.</a:t>
            </a:r>
            <a:endParaRPr lang="en-US" sz="2600" dirty="0"/>
          </a:p>
        </p:txBody>
      </p:sp>
      <p:sp>
        <p:nvSpPr>
          <p:cNvPr id="9" name="Text 7"/>
          <p:cNvSpPr/>
          <p:nvPr/>
        </p:nvSpPr>
        <p:spPr>
          <a:xfrm>
            <a:off x="502920" y="2688336"/>
            <a:ext cx="3429000" cy="914400"/>
          </a:xfrm>
          <a:prstGeom prst="rect">
            <a:avLst/>
          </a:prstGeom>
          <a:noFill/>
          <a:ln/>
        </p:spPr>
        <p:txBody>
          <a:bodyPr wrap="square" lIns="0" tIns="0" rIns="0" bIns="0" rtlCol="0" anchor="t"/>
          <a:lstStyle/>
          <a:p>
            <a:pPr marL="0" indent="0">
              <a:buNone/>
            </a:pPr>
            <a:r>
              <a:rPr lang="en-US" sz="1700" dirty="0">
                <a:solidFill>
                  <a:srgbClr val="242424"/>
                </a:solidFill>
                <a:latin typeface="Segoe UI" pitchFamily="34" charset="0"/>
                <a:ea typeface="Segoe UI" pitchFamily="34" charset="-122"/>
                <a:cs typeface="Segoe UI" pitchFamily="34" charset="-120"/>
              </a:rPr>
              <a:t>For teenagers with cognitive disabilities, finding a suitable activity can require daily support.</a:t>
            </a:r>
            <a:endParaRPr lang="en-US" sz="1700" dirty="0"/>
          </a:p>
        </p:txBody>
      </p:sp>
      <p:sp>
        <p:nvSpPr>
          <p:cNvPr id="10" name="Text 8"/>
          <p:cNvSpPr/>
          <p:nvPr/>
        </p:nvSpPr>
        <p:spPr>
          <a:xfrm>
            <a:off x="502920" y="3767328"/>
            <a:ext cx="3474720" cy="530352"/>
          </a:xfrm>
          <a:prstGeom prst="rect">
            <a:avLst/>
          </a:prstGeom>
          <a:noFill/>
          <a:ln/>
        </p:spPr>
        <p:txBody>
          <a:bodyPr wrap="square" lIns="0" tIns="0" rIns="0" bIns="0" rtlCol="0" anchor="t"/>
          <a:lstStyle/>
          <a:p>
            <a:pPr marL="0" indent="0">
              <a:buNone/>
            </a:pPr>
            <a:r>
              <a:rPr lang="en-US" sz="1800" b="1" dirty="0">
                <a:solidFill>
                  <a:srgbClr val="B11F4B"/>
                </a:solidFill>
                <a:latin typeface="Segoe UI" pitchFamily="34" charset="0"/>
                <a:ea typeface="Segoe UI" pitchFamily="34" charset="-122"/>
                <a:cs typeface="Segoe UI" pitchFamily="34" charset="-120"/>
              </a:rPr>
              <a:t>AI proposes. A parent chooses.</a:t>
            </a:r>
            <a:endParaRPr lang="en-US" sz="1800" dirty="0"/>
          </a:p>
        </p:txBody>
      </p:sp>
      <p:sp>
        <p:nvSpPr>
          <p:cNvPr id="11" name="Text 9"/>
          <p:cNvSpPr/>
          <p:nvPr/>
        </p:nvSpPr>
        <p:spPr>
          <a:xfrm>
            <a:off x="502920" y="4197096"/>
            <a:ext cx="3520440" cy="457200"/>
          </a:xfrm>
          <a:prstGeom prst="rect">
            <a:avLst/>
          </a:prstGeom>
          <a:noFill/>
          <a:ln/>
        </p:spPr>
        <p:txBody>
          <a:bodyPr wrap="square" lIns="0" tIns="0" rIns="0" bIns="0" rtlCol="0" anchor="t"/>
          <a:lstStyle/>
          <a:p>
            <a:pPr marL="0" indent="0">
              <a:buNone/>
            </a:pPr>
            <a:r>
              <a:rPr lang="en-US" sz="1400" dirty="0">
                <a:solidFill>
                  <a:srgbClr val="5C5C5C"/>
                </a:solidFill>
                <a:latin typeface="Segoe UI" pitchFamily="34" charset="0"/>
                <a:ea typeface="Segoe UI" pitchFamily="34" charset="-122"/>
                <a:cs typeface="Segoe UI" pitchFamily="34" charset="-120"/>
              </a:rPr>
              <a:t>Parents set interests, language and timing.</a:t>
            </a:r>
            <a:endParaRPr lang="en-US" sz="1400" dirty="0"/>
          </a:p>
        </p:txBody>
      </p:sp>
      <p:sp>
        <p:nvSpPr>
          <p:cNvPr id="13" name="Text 10"/>
          <p:cNvSpPr/>
          <p:nvPr/>
        </p:nvSpPr>
        <p:spPr>
          <a:xfrm>
            <a:off x="4343400" y="4023360"/>
            <a:ext cx="4297680" cy="347472"/>
          </a:xfrm>
          <a:prstGeom prst="rect">
            <a:avLst/>
          </a:prstGeom>
          <a:noFill/>
          <a:ln/>
        </p:spPr>
        <p:txBody>
          <a:bodyPr wrap="square" lIns="0" tIns="0" rIns="0" bIns="0" rtlCol="0" anchor="t"/>
          <a:lstStyle/>
          <a:p>
            <a:pPr marL="0" indent="0">
              <a:buNone/>
            </a:pPr>
            <a:r>
              <a:rPr lang="en-US" sz="1250">
                <a:solidFill>
                  <a:srgbClr val="5C5C5C"/>
                </a:solidFill>
                <a:latin typeface="Segoe UI" pitchFamily="34" charset="0"/>
                <a:ea typeface="Segoe UI" pitchFamily="34" charset="-122"/>
                <a:cs typeface="Segoe UI" pitchFamily="34" charset="-120"/>
              </a:rPr>
              <a:t>The e-paper display between activities.</a:t>
            </a:r>
            <a:endParaRPr lang="en-US" sz="1250" dirty="0"/>
          </a:p>
        </p:txBody>
      </p:sp>
      <p:pic>
        <p:nvPicPr>
          <p:cNvPr id="15" name="Picture 14" descr="Photograph from the Lanternina homepage: the home e-paper display showing an illustration of a dog drawing at a desk.">
            <a:extLst>
              <a:ext uri="{FF2B5EF4-FFF2-40B4-BE49-F238E27FC236}">
                <a16:creationId xmlns:a16="http://schemas.microsoft.com/office/drawing/2014/main" id="{AEE35E27-DDA7-94E5-6103-E8D4BA42A803}"/>
              </a:ext>
            </a:extLst>
          </p:cNvPr>
          <p:cNvPicPr>
            <a:picLocks/>
          </p:cNvPicPr>
          <p:nvPr/>
        </p:nvPicPr>
        <p:blipFill>
          <a:blip r:embed="rId4"/>
          <a:stretch>
            <a:fillRect/>
          </a:stretch>
        </p:blipFill>
        <p:spPr>
          <a:xfrm>
            <a:off x="4343400" y="1298448"/>
            <a:ext cx="4297680" cy="25488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2011680" cy="219456"/>
          </a:xfrm>
          <a:prstGeom prst="rect">
            <a:avLst/>
          </a:prstGeom>
          <a:noFill/>
          <a:ln/>
        </p:spPr>
        <p:txBody>
          <a:bodyPr wrap="square" lIns="0" tIns="0" rIns="0" bIns="0" rtlCol="0" anchor="t"/>
          <a:lstStyle/>
          <a:p>
            <a:pPr marL="0" indent="0">
              <a:buNone/>
            </a:pPr>
            <a:r>
              <a:rPr lang="en-US" sz="1300" b="1" dirty="0">
                <a:solidFill>
                  <a:srgbClr val="242424"/>
                </a:solidFill>
                <a:latin typeface="Palatino Linotype" pitchFamily="34" charset="0"/>
                <a:ea typeface="Palatino Linotype" pitchFamily="34" charset="-122"/>
                <a:cs typeface="Palatino Linotype" pitchFamily="34" charset="-120"/>
              </a:rPr>
              <a:t>Lanternina</a:t>
            </a:r>
            <a:endParaRPr lang="en-US" sz="1300" dirty="0"/>
          </a:p>
        </p:txBody>
      </p:sp>
      <p:sp>
        <p:nvSpPr>
          <p:cNvPr id="3" name="Text 1"/>
          <p:cNvSpPr/>
          <p:nvPr/>
        </p:nvSpPr>
        <p:spPr>
          <a:xfrm>
            <a:off x="5166360" y="347472"/>
            <a:ext cx="3474720" cy="164592"/>
          </a:xfrm>
          <a:prstGeom prst="rect">
            <a:avLst/>
          </a:prstGeom>
          <a:noFill/>
          <a:ln/>
        </p:spPr>
        <p:txBody>
          <a:bodyPr wrap="square" lIns="0" tIns="0" rIns="0" bIns="0" rtlCol="0" anchor="t"/>
          <a:lstStyle/>
          <a:p>
            <a:pPr marL="0" indent="0" algn="r">
              <a:buNone/>
            </a:pPr>
            <a:r>
              <a:rPr lang="en-US" sz="900" b="1" dirty="0">
                <a:solidFill>
                  <a:srgbClr val="B11F4B"/>
                </a:solidFill>
                <a:latin typeface="Segoe UI" pitchFamily="34" charset="0"/>
                <a:ea typeface="Segoe UI" pitchFamily="34" charset="-122"/>
                <a:cs typeface="Segoe UI" pitchFamily="34" charset="-120"/>
              </a:rPr>
              <a:t>THE ACTIVITY</a:t>
            </a:r>
            <a:endParaRPr lang="en-US" sz="900" dirty="0"/>
          </a:p>
        </p:txBody>
      </p:sp>
      <p:sp>
        <p:nvSpPr>
          <p:cNvPr id="4" name="Text 2"/>
          <p:cNvSpPr/>
          <p:nvPr/>
        </p:nvSpPr>
        <p:spPr>
          <a:xfrm>
            <a:off x="502920" y="4782312"/>
            <a:ext cx="4023360" cy="164592"/>
          </a:xfrm>
          <a:prstGeom prst="rect">
            <a:avLst/>
          </a:prstGeom>
          <a:noFill/>
          <a:ln/>
        </p:spPr>
        <p:txBody>
          <a:bodyPr wrap="square" lIns="0" tIns="0" rIns="0" bIns="0" rtlCol="0" anchor="t"/>
          <a:lstStyle/>
          <a:p>
            <a:r>
              <a:rPr lang="en-US" sz="900" dirty="0">
                <a:solidFill>
                  <a:srgbClr val="5C5C5C"/>
                </a:solidFill>
                <a:latin typeface="Segoe UI" pitchFamily="34" charset="0"/>
                <a:ea typeface="Segoe UI" pitchFamily="34" charset="-122"/>
                <a:cs typeface="Segoe UI" pitchFamily="34" charset="-120"/>
              </a:rPr>
              <a:t>Fausto Palma | Glauco Rocco | Hackathon 2026</a:t>
            </a:r>
            <a:endParaRPr lang="en-US" sz="900" dirty="0"/>
          </a:p>
        </p:txBody>
      </p:sp>
      <p:sp>
        <p:nvSpPr>
          <p:cNvPr id="5" name="Text 3">
            <a:hlinkClick r:id="rId3"/>
          </p:cNvPr>
          <p:cNvSpPr/>
          <p:nvPr/>
        </p:nvSpPr>
        <p:spPr>
          <a:xfrm>
            <a:off x="6858000" y="4764024"/>
            <a:ext cx="1417320" cy="201168"/>
          </a:xfrm>
          <a:prstGeom prst="rect">
            <a:avLst/>
          </a:prstGeom>
          <a:noFill/>
          <a:ln/>
        </p:spPr>
        <p:txBody>
          <a:bodyPr wrap="square" lIns="0" tIns="0" rIns="0" bIns="0" rtlCol="0" anchor="t"/>
          <a:lstStyle/>
          <a:p>
            <a:pPr marL="0" indent="0" algn="r">
              <a:buNone/>
            </a:pPr>
            <a:r>
              <a:rPr lang="en-US" sz="1000" u="sng" dirty="0">
                <a:solidFill>
                  <a:srgbClr val="B11F4B"/>
                </a:solidFill>
                <a:latin typeface="Segoe UI" pitchFamily="34" charset="0"/>
                <a:ea typeface="Segoe UI" pitchFamily="34" charset="-122"/>
                <a:cs typeface="Segoe UI" pitchFamily="34" charset="-120"/>
                <a:hlinkClick r:id="rId3">
                  <a:extLst>
                    <a:ext uri="{A12FA001-AC4F-418D-AE19-62706E023703}">
                      <ahyp:hlinkClr xmlns:ahyp="http://schemas.microsoft.com/office/drawing/2018/hyperlinkcolor" val="tx"/>
                    </a:ext>
                  </a:extLst>
                </a:hlinkClick>
              </a:rPr>
              <a:t>lanternina.com</a:t>
            </a:r>
            <a:endParaRPr lang="en-US" sz="1000" dirty="0"/>
          </a:p>
        </p:txBody>
      </p:sp>
      <p:sp>
        <p:nvSpPr>
          <p:cNvPr id="6" name="Text 4"/>
          <p:cNvSpPr/>
          <p:nvPr/>
        </p:nvSpPr>
        <p:spPr>
          <a:xfrm>
            <a:off x="8394192" y="4782312"/>
            <a:ext cx="246888" cy="164592"/>
          </a:xfrm>
          <a:prstGeom prst="rect">
            <a:avLst/>
          </a:prstGeom>
          <a:noFill/>
          <a:ln/>
        </p:spPr>
        <p:txBody>
          <a:bodyPr wrap="square" lIns="0" tIns="0" rIns="0" bIns="0" rtlCol="0" anchor="t"/>
          <a:lstStyle/>
          <a:p>
            <a:pPr marL="0" indent="0" algn="r">
              <a:buNone/>
            </a:pPr>
            <a:r>
              <a:rPr lang="en-US" sz="900" dirty="0">
                <a:solidFill>
                  <a:srgbClr val="5C5C5C"/>
                </a:solidFill>
                <a:latin typeface="Segoe UI" pitchFamily="34" charset="0"/>
                <a:ea typeface="Segoe UI" pitchFamily="34" charset="-122"/>
                <a:cs typeface="Segoe UI" pitchFamily="34" charset="-120"/>
              </a:rPr>
              <a:t>02</a:t>
            </a:r>
            <a:endParaRPr lang="en-US" sz="900" dirty="0"/>
          </a:p>
        </p:txBody>
      </p:sp>
      <p:sp>
        <p:nvSpPr>
          <p:cNvPr id="7" name="Text 5"/>
          <p:cNvSpPr/>
          <p:nvPr/>
        </p:nvSpPr>
        <p:spPr>
          <a:xfrm>
            <a:off x="502920" y="804672"/>
            <a:ext cx="8138160" cy="640080"/>
          </a:xfrm>
          <a:prstGeom prst="rect">
            <a:avLst/>
          </a:prstGeom>
          <a:noFill/>
          <a:ln/>
        </p:spPr>
        <p:txBody>
          <a:bodyPr wrap="square" lIns="0" tIns="0" rIns="0" bIns="0" rtlCol="0" anchor="t"/>
          <a:lstStyle/>
          <a:p>
            <a:pPr marL="0" indent="0">
              <a:buNone/>
            </a:pPr>
            <a:r>
              <a:rPr lang="en-US" sz="3200" b="1" dirty="0">
                <a:solidFill>
                  <a:srgbClr val="242424"/>
                </a:solidFill>
                <a:latin typeface="Segoe UI" pitchFamily="34" charset="0"/>
                <a:ea typeface="Segoe UI" pitchFamily="34" charset="-122"/>
                <a:cs typeface="Segoe UI" pitchFamily="34" charset="-120"/>
              </a:rPr>
              <a:t>The reply changes the next step.</a:t>
            </a:r>
            <a:endParaRPr lang="en-US" sz="3200" dirty="0"/>
          </a:p>
        </p:txBody>
      </p:sp>
      <p:pic>
        <p:nvPicPr>
          <p:cNvPr id="8" name="Image 0" descr="Generated Valle Lunga railway map and clues, in Italian."/>
          <p:cNvPicPr>
            <a:picLocks noChangeAspect="1"/>
          </p:cNvPicPr>
          <p:nvPr/>
        </p:nvPicPr>
        <p:blipFill>
          <a:blip r:embed="rId4"/>
          <a:stretch>
            <a:fillRect/>
          </a:stretch>
        </p:blipFill>
        <p:spPr>
          <a:xfrm>
            <a:off x="594360" y="1572768"/>
            <a:ext cx="1828800" cy="2743200"/>
          </a:xfrm>
          <a:prstGeom prst="rect">
            <a:avLst/>
          </a:prstGeom>
        </p:spPr>
      </p:pic>
      <p:pic>
        <p:nvPicPr>
          <p:cNvPr id="9" name="Image 1" descr="Generated railway worksheet with model-simulated blue annotations; not a participant response."/>
          <p:cNvPicPr>
            <a:picLocks noChangeAspect="1"/>
          </p:cNvPicPr>
          <p:nvPr/>
        </p:nvPicPr>
        <p:blipFill>
          <a:blip r:embed="rId5"/>
          <a:stretch>
            <a:fillRect/>
          </a:stretch>
        </p:blipFill>
        <p:spPr>
          <a:xfrm>
            <a:off x="2880360" y="1572768"/>
            <a:ext cx="1828800" cy="2743200"/>
          </a:xfrm>
          <a:prstGeom prst="rect">
            <a:avLst/>
          </a:prstGeom>
        </p:spPr>
      </p:pic>
      <p:sp>
        <p:nvSpPr>
          <p:cNvPr id="10" name="Shape 6"/>
          <p:cNvSpPr/>
          <p:nvPr/>
        </p:nvSpPr>
        <p:spPr>
          <a:xfrm>
            <a:off x="2523744" y="2907792"/>
            <a:ext cx="246888" cy="0"/>
          </a:xfrm>
          <a:prstGeom prst="line">
            <a:avLst/>
          </a:prstGeom>
          <a:noFill/>
          <a:ln w="21590">
            <a:solidFill>
              <a:srgbClr val="B11F4B"/>
            </a:solidFill>
            <a:prstDash val="solid"/>
            <a:tailEnd type="triangle"/>
          </a:ln>
        </p:spPr>
        <p:txBody>
          <a:bodyPr/>
          <a:lstStyle/>
          <a:p>
            <a:endParaRPr lang="en-US"/>
          </a:p>
        </p:txBody>
      </p:sp>
      <p:sp>
        <p:nvSpPr>
          <p:cNvPr id="11" name="Text 7"/>
          <p:cNvSpPr/>
          <p:nvPr/>
        </p:nvSpPr>
        <p:spPr>
          <a:xfrm>
            <a:off x="594360" y="4434840"/>
            <a:ext cx="1965960" cy="210312"/>
          </a:xfrm>
          <a:prstGeom prst="rect">
            <a:avLst/>
          </a:prstGeom>
          <a:noFill/>
          <a:ln/>
        </p:spPr>
        <p:txBody>
          <a:bodyPr wrap="square" lIns="0" tIns="0" rIns="0" bIns="0" rtlCol="0" anchor="t"/>
          <a:lstStyle/>
          <a:p>
            <a:pPr marL="0" indent="0">
              <a:buNone/>
            </a:pPr>
            <a:r>
              <a:rPr lang="en-US" sz="1150" b="1" dirty="0">
                <a:solidFill>
                  <a:srgbClr val="242424"/>
                </a:solidFill>
                <a:latin typeface="Segoe UI" pitchFamily="34" charset="0"/>
                <a:ea typeface="Segoe UI" pitchFamily="34" charset="-122"/>
                <a:cs typeface="Segoe UI" pitchFamily="34" charset="-120"/>
              </a:rPr>
              <a:t>A railway to reconstruct</a:t>
            </a:r>
            <a:endParaRPr lang="en-US" sz="1150" dirty="0"/>
          </a:p>
        </p:txBody>
      </p:sp>
      <p:sp>
        <p:nvSpPr>
          <p:cNvPr id="12" name="Text 8"/>
          <p:cNvSpPr/>
          <p:nvPr/>
        </p:nvSpPr>
        <p:spPr>
          <a:xfrm>
            <a:off x="2880360" y="4434840"/>
            <a:ext cx="1828800" cy="210312"/>
          </a:xfrm>
          <a:prstGeom prst="rect">
            <a:avLst/>
          </a:prstGeom>
          <a:noFill/>
          <a:ln/>
        </p:spPr>
        <p:txBody>
          <a:bodyPr wrap="square" lIns="0" tIns="0" rIns="0" bIns="0" rtlCol="0" anchor="t"/>
          <a:lstStyle/>
          <a:p>
            <a:pPr marL="0" indent="0">
              <a:buNone/>
            </a:pPr>
            <a:r>
              <a:rPr lang="en-US" sz="1200" b="1" dirty="0">
                <a:solidFill>
                  <a:srgbClr val="242424"/>
                </a:solidFill>
                <a:latin typeface="Segoe UI" pitchFamily="34" charset="0"/>
                <a:ea typeface="Segoe UI" pitchFamily="34" charset="-122"/>
                <a:cs typeface="Segoe UI" pitchFamily="34" charset="-120"/>
              </a:rPr>
              <a:t>A simulated reply</a:t>
            </a:r>
            <a:endParaRPr lang="en-US" sz="1200" dirty="0"/>
          </a:p>
        </p:txBody>
      </p:sp>
      <p:sp>
        <p:nvSpPr>
          <p:cNvPr id="13" name="Text 9"/>
          <p:cNvSpPr/>
          <p:nvPr/>
        </p:nvSpPr>
        <p:spPr>
          <a:xfrm>
            <a:off x="5212080" y="1655064"/>
            <a:ext cx="329184" cy="256032"/>
          </a:xfrm>
          <a:prstGeom prst="rect">
            <a:avLst/>
          </a:prstGeom>
          <a:noFill/>
          <a:ln/>
        </p:spPr>
        <p:txBody>
          <a:bodyPr wrap="square" lIns="0" tIns="0" rIns="0" bIns="0" rtlCol="0" anchor="t"/>
          <a:lstStyle/>
          <a:p>
            <a:pPr marL="0" indent="0">
              <a:buNone/>
            </a:pPr>
            <a:r>
              <a:rPr lang="en-US" sz="1250" b="1" dirty="0">
                <a:solidFill>
                  <a:srgbClr val="B11F4B"/>
                </a:solidFill>
                <a:latin typeface="Segoe UI" pitchFamily="34" charset="0"/>
                <a:ea typeface="Segoe UI" pitchFamily="34" charset="-122"/>
                <a:cs typeface="Segoe UI" pitchFamily="34" charset="-120"/>
              </a:rPr>
              <a:t>01</a:t>
            </a:r>
            <a:endParaRPr lang="en-US" sz="1250" dirty="0"/>
          </a:p>
        </p:txBody>
      </p:sp>
      <p:sp>
        <p:nvSpPr>
          <p:cNvPr id="14" name="Text 10"/>
          <p:cNvSpPr/>
          <p:nvPr/>
        </p:nvSpPr>
        <p:spPr>
          <a:xfrm>
            <a:off x="5641848" y="1645920"/>
            <a:ext cx="2999232" cy="301752"/>
          </a:xfrm>
          <a:prstGeom prst="rect">
            <a:avLst/>
          </a:prstGeom>
          <a:noFill/>
          <a:ln/>
        </p:spPr>
        <p:txBody>
          <a:bodyPr wrap="square" lIns="0" tIns="0" rIns="0" bIns="0" rtlCol="0" anchor="t"/>
          <a:lstStyle/>
          <a:p>
            <a:pPr marL="0" indent="0">
              <a:buNone/>
            </a:pPr>
            <a:r>
              <a:rPr lang="en-US" sz="1800" b="1" dirty="0">
                <a:solidFill>
                  <a:srgbClr val="242424"/>
                </a:solidFill>
                <a:latin typeface="Segoe UI" pitchFamily="34" charset="0"/>
                <a:ea typeface="Segoe UI" pitchFamily="34" charset="-122"/>
                <a:cs typeface="Segoe UI" pitchFamily="34" charset="-120"/>
              </a:rPr>
              <a:t>Prepare</a:t>
            </a:r>
            <a:endParaRPr lang="en-US" sz="1800" dirty="0"/>
          </a:p>
        </p:txBody>
      </p:sp>
      <p:sp>
        <p:nvSpPr>
          <p:cNvPr id="15" name="Text 11"/>
          <p:cNvSpPr/>
          <p:nvPr/>
        </p:nvSpPr>
        <p:spPr>
          <a:xfrm>
            <a:off x="5641848" y="1993392"/>
            <a:ext cx="2999232" cy="448056"/>
          </a:xfrm>
          <a:prstGeom prst="rect">
            <a:avLst/>
          </a:prstGeom>
          <a:noFill/>
          <a:ln/>
        </p:spPr>
        <p:txBody>
          <a:bodyPr wrap="square" lIns="0" tIns="0" rIns="0" bIns="0" rtlCol="0" anchor="t"/>
          <a:lstStyle/>
          <a:p>
            <a:pPr marL="0" indent="0">
              <a:buNone/>
            </a:pPr>
            <a:r>
              <a:rPr lang="en-US" sz="1450" dirty="0">
                <a:solidFill>
                  <a:srgbClr val="242424"/>
                </a:solidFill>
                <a:latin typeface="Segoe UI" pitchFamily="34" charset="0"/>
                <a:ea typeface="Segoe UI" pitchFamily="34" charset="-122"/>
                <a:cs typeface="Segoe UI" pitchFamily="34" charset="-120"/>
              </a:rPr>
              <a:t>AI creates the activity and its sheets.</a:t>
            </a:r>
            <a:endParaRPr lang="en-US" sz="1450" dirty="0"/>
          </a:p>
        </p:txBody>
      </p:sp>
      <p:sp>
        <p:nvSpPr>
          <p:cNvPr id="16" name="Text 12"/>
          <p:cNvSpPr/>
          <p:nvPr/>
        </p:nvSpPr>
        <p:spPr>
          <a:xfrm>
            <a:off x="5212080" y="2551176"/>
            <a:ext cx="329184" cy="256032"/>
          </a:xfrm>
          <a:prstGeom prst="rect">
            <a:avLst/>
          </a:prstGeom>
          <a:noFill/>
          <a:ln/>
        </p:spPr>
        <p:txBody>
          <a:bodyPr wrap="square" lIns="0" tIns="0" rIns="0" bIns="0" rtlCol="0" anchor="t"/>
          <a:lstStyle/>
          <a:p>
            <a:pPr marL="0" indent="0">
              <a:buNone/>
            </a:pPr>
            <a:r>
              <a:rPr lang="en-US" sz="1250" b="1" dirty="0">
                <a:solidFill>
                  <a:srgbClr val="B11F4B"/>
                </a:solidFill>
                <a:latin typeface="Segoe UI" pitchFamily="34" charset="0"/>
                <a:ea typeface="Segoe UI" pitchFamily="34" charset="-122"/>
                <a:cs typeface="Segoe UI" pitchFamily="34" charset="-120"/>
              </a:rPr>
              <a:t>02</a:t>
            </a:r>
            <a:endParaRPr lang="en-US" sz="1250" dirty="0"/>
          </a:p>
        </p:txBody>
      </p:sp>
      <p:sp>
        <p:nvSpPr>
          <p:cNvPr id="17" name="Text 13"/>
          <p:cNvSpPr/>
          <p:nvPr/>
        </p:nvSpPr>
        <p:spPr>
          <a:xfrm>
            <a:off x="5641848" y="2542032"/>
            <a:ext cx="2999232" cy="301752"/>
          </a:xfrm>
          <a:prstGeom prst="rect">
            <a:avLst/>
          </a:prstGeom>
          <a:noFill/>
          <a:ln/>
        </p:spPr>
        <p:txBody>
          <a:bodyPr wrap="square" lIns="0" tIns="0" rIns="0" bIns="0" rtlCol="0" anchor="t"/>
          <a:lstStyle/>
          <a:p>
            <a:pPr marL="0" indent="0">
              <a:buNone/>
            </a:pPr>
            <a:r>
              <a:rPr lang="en-US" sz="1800" b="1" dirty="0">
                <a:solidFill>
                  <a:srgbClr val="242424"/>
                </a:solidFill>
                <a:latin typeface="Segoe UI" pitchFamily="34" charset="0"/>
                <a:ea typeface="Segoe UI" pitchFamily="34" charset="-122"/>
                <a:cs typeface="Segoe UI" pitchFamily="34" charset="-120"/>
              </a:rPr>
              <a:t>Do and return</a:t>
            </a:r>
            <a:endParaRPr lang="en-US" sz="1800" dirty="0"/>
          </a:p>
        </p:txBody>
      </p:sp>
      <p:sp>
        <p:nvSpPr>
          <p:cNvPr id="18" name="Text 14"/>
          <p:cNvSpPr/>
          <p:nvPr/>
        </p:nvSpPr>
        <p:spPr>
          <a:xfrm>
            <a:off x="5641848" y="2889504"/>
            <a:ext cx="2999232" cy="448056"/>
          </a:xfrm>
          <a:prstGeom prst="rect">
            <a:avLst/>
          </a:prstGeom>
          <a:noFill/>
          <a:ln/>
        </p:spPr>
        <p:txBody>
          <a:bodyPr wrap="square" lIns="0" tIns="0" rIns="0" bIns="0" rtlCol="0" anchor="t"/>
          <a:lstStyle/>
          <a:p>
            <a:pPr marL="0" indent="0">
              <a:buNone/>
            </a:pPr>
            <a:r>
              <a:rPr lang="en-US" sz="1450" dirty="0">
                <a:solidFill>
                  <a:srgbClr val="242424"/>
                </a:solidFill>
                <a:latin typeface="Segoe UI" pitchFamily="34" charset="0"/>
                <a:ea typeface="Segoe UI" pitchFamily="34" charset="-122"/>
                <a:cs typeface="Segoe UI" pitchFamily="34" charset="-120"/>
              </a:rPr>
              <a:t>Work on paper; send a photograph.</a:t>
            </a:r>
            <a:endParaRPr lang="en-US" sz="1450" dirty="0"/>
          </a:p>
        </p:txBody>
      </p:sp>
      <p:sp>
        <p:nvSpPr>
          <p:cNvPr id="19" name="Text 15"/>
          <p:cNvSpPr/>
          <p:nvPr/>
        </p:nvSpPr>
        <p:spPr>
          <a:xfrm>
            <a:off x="5212080" y="3447288"/>
            <a:ext cx="329184" cy="256032"/>
          </a:xfrm>
          <a:prstGeom prst="rect">
            <a:avLst/>
          </a:prstGeom>
          <a:noFill/>
          <a:ln/>
        </p:spPr>
        <p:txBody>
          <a:bodyPr wrap="square" lIns="0" tIns="0" rIns="0" bIns="0" rtlCol="0" anchor="t"/>
          <a:lstStyle/>
          <a:p>
            <a:pPr marL="0" indent="0">
              <a:buNone/>
            </a:pPr>
            <a:r>
              <a:rPr lang="en-US" sz="1250" b="1" dirty="0">
                <a:solidFill>
                  <a:srgbClr val="B11F4B"/>
                </a:solidFill>
                <a:latin typeface="Segoe UI" pitchFamily="34" charset="0"/>
                <a:ea typeface="Segoe UI" pitchFamily="34" charset="-122"/>
                <a:cs typeface="Segoe UI" pitchFamily="34" charset="-120"/>
              </a:rPr>
              <a:t>03</a:t>
            </a:r>
            <a:endParaRPr lang="en-US" sz="1250" dirty="0"/>
          </a:p>
        </p:txBody>
      </p:sp>
      <p:sp>
        <p:nvSpPr>
          <p:cNvPr id="20" name="Text 16"/>
          <p:cNvSpPr/>
          <p:nvPr/>
        </p:nvSpPr>
        <p:spPr>
          <a:xfrm>
            <a:off x="5641848" y="3438144"/>
            <a:ext cx="2999232" cy="301752"/>
          </a:xfrm>
          <a:prstGeom prst="rect">
            <a:avLst/>
          </a:prstGeom>
          <a:noFill/>
          <a:ln/>
        </p:spPr>
        <p:txBody>
          <a:bodyPr wrap="square" lIns="0" tIns="0" rIns="0" bIns="0" rtlCol="0" anchor="t"/>
          <a:lstStyle/>
          <a:p>
            <a:pPr marL="0" indent="0">
              <a:buNone/>
            </a:pPr>
            <a:r>
              <a:rPr lang="en-US" sz="1800" b="1" dirty="0">
                <a:solidFill>
                  <a:srgbClr val="242424"/>
                </a:solidFill>
                <a:latin typeface="Segoe UI" pitchFamily="34" charset="0"/>
                <a:ea typeface="Segoe UI" pitchFamily="34" charset="-122"/>
                <a:cs typeface="Segoe UI" pitchFamily="34" charset="-120"/>
              </a:rPr>
              <a:t>Read and continue</a:t>
            </a:r>
            <a:endParaRPr lang="en-US" sz="1800" dirty="0"/>
          </a:p>
        </p:txBody>
      </p:sp>
      <p:sp>
        <p:nvSpPr>
          <p:cNvPr id="21" name="Text 17"/>
          <p:cNvSpPr/>
          <p:nvPr/>
        </p:nvSpPr>
        <p:spPr>
          <a:xfrm>
            <a:off x="5641848" y="3785616"/>
            <a:ext cx="2999232" cy="448056"/>
          </a:xfrm>
          <a:prstGeom prst="rect">
            <a:avLst/>
          </a:prstGeom>
          <a:noFill/>
          <a:ln/>
        </p:spPr>
        <p:txBody>
          <a:bodyPr wrap="square" lIns="0" tIns="0" rIns="0" bIns="0" rtlCol="0" anchor="t"/>
          <a:lstStyle/>
          <a:p>
            <a:pPr marL="0" indent="0">
              <a:buNone/>
            </a:pPr>
            <a:r>
              <a:rPr lang="en-US" sz="1450" dirty="0">
                <a:solidFill>
                  <a:srgbClr val="242424"/>
                </a:solidFill>
                <a:latin typeface="Segoe UI" pitchFamily="34" charset="0"/>
                <a:ea typeface="Segoe UI" pitchFamily="34" charset="-122"/>
                <a:cs typeface="Segoe UI" pitchFamily="34" charset="-120"/>
              </a:rPr>
              <a:t>AI reads the additions and prepares the next step.</a:t>
            </a:r>
            <a:endParaRPr lang="en-US" sz="1450" dirty="0"/>
          </a:p>
        </p:txBody>
      </p:sp>
      <p:sp>
        <p:nvSpPr>
          <p:cNvPr id="22" name="Text 18"/>
          <p:cNvSpPr/>
          <p:nvPr/>
        </p:nvSpPr>
        <p:spPr>
          <a:xfrm>
            <a:off x="5212080" y="4379976"/>
            <a:ext cx="3429000" cy="365760"/>
          </a:xfrm>
          <a:prstGeom prst="rect">
            <a:avLst/>
          </a:prstGeom>
          <a:noFill/>
          <a:ln/>
        </p:spPr>
        <p:txBody>
          <a:bodyPr wrap="square" lIns="0" tIns="0" rIns="0" bIns="0" rtlCol="0" anchor="t"/>
          <a:lstStyle/>
          <a:p>
            <a:pPr marL="0" indent="0">
              <a:buNone/>
            </a:pPr>
            <a:r>
              <a:rPr lang="en-US" sz="1050" dirty="0">
                <a:solidFill>
                  <a:srgbClr val="5C5C5C"/>
                </a:solidFill>
                <a:latin typeface="Segoe UI" pitchFamily="34" charset="0"/>
                <a:ea typeface="Segoe UI" pitchFamily="34" charset="-122"/>
                <a:cs typeface="Segoe UI" pitchFamily="34" charset="-120"/>
              </a:rPr>
              <a:t>Example in Italian. The blue additions were simulated by a model, not made by a participant.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10896"/>
            <a:ext cx="2011680" cy="219456"/>
          </a:xfrm>
          <a:prstGeom prst="rect">
            <a:avLst/>
          </a:prstGeom>
          <a:noFill/>
          <a:ln/>
        </p:spPr>
        <p:txBody>
          <a:bodyPr wrap="square" lIns="0" tIns="0" rIns="0" bIns="0" rtlCol="0" anchor="t"/>
          <a:lstStyle/>
          <a:p>
            <a:pPr marL="0" indent="0">
              <a:buNone/>
            </a:pPr>
            <a:r>
              <a:rPr lang="en-US" sz="1300" b="1" dirty="0">
                <a:solidFill>
                  <a:srgbClr val="242424"/>
                </a:solidFill>
                <a:latin typeface="Palatino Linotype" pitchFamily="34" charset="0"/>
                <a:ea typeface="Palatino Linotype" pitchFamily="34" charset="-122"/>
                <a:cs typeface="Palatino Linotype" pitchFamily="34" charset="-120"/>
              </a:rPr>
              <a:t>Lanternina</a:t>
            </a:r>
            <a:endParaRPr lang="en-US" sz="1300" dirty="0"/>
          </a:p>
        </p:txBody>
      </p:sp>
      <p:sp>
        <p:nvSpPr>
          <p:cNvPr id="3" name="Text 1"/>
          <p:cNvSpPr/>
          <p:nvPr/>
        </p:nvSpPr>
        <p:spPr>
          <a:xfrm>
            <a:off x="5166360" y="347472"/>
            <a:ext cx="3474720" cy="164592"/>
          </a:xfrm>
          <a:prstGeom prst="rect">
            <a:avLst/>
          </a:prstGeom>
          <a:noFill/>
          <a:ln/>
        </p:spPr>
        <p:txBody>
          <a:bodyPr wrap="square" lIns="0" tIns="0" rIns="0" bIns="0" rtlCol="0" anchor="t"/>
          <a:lstStyle/>
          <a:p>
            <a:pPr marL="0" indent="0" algn="r">
              <a:buNone/>
            </a:pPr>
            <a:r>
              <a:rPr lang="en-US" sz="900" b="1" dirty="0">
                <a:solidFill>
                  <a:srgbClr val="B11F4B"/>
                </a:solidFill>
                <a:latin typeface="Segoe UI" pitchFamily="34" charset="0"/>
                <a:ea typeface="Segoe UI" pitchFamily="34" charset="-122"/>
                <a:cs typeface="Segoe UI" pitchFamily="34" charset="-120"/>
              </a:rPr>
              <a:t>THE SYSTEM</a:t>
            </a:r>
            <a:endParaRPr lang="en-US" sz="900" dirty="0"/>
          </a:p>
        </p:txBody>
      </p:sp>
      <p:sp>
        <p:nvSpPr>
          <p:cNvPr id="4" name="Text 2"/>
          <p:cNvSpPr/>
          <p:nvPr/>
        </p:nvSpPr>
        <p:spPr>
          <a:xfrm>
            <a:off x="502920" y="4782312"/>
            <a:ext cx="4023360" cy="164592"/>
          </a:xfrm>
          <a:prstGeom prst="rect">
            <a:avLst/>
          </a:prstGeom>
          <a:noFill/>
          <a:ln/>
        </p:spPr>
        <p:txBody>
          <a:bodyPr wrap="square" lIns="0" tIns="0" rIns="0" bIns="0" rtlCol="0" anchor="t"/>
          <a:lstStyle/>
          <a:p>
            <a:pPr marL="0" indent="0">
              <a:buNone/>
            </a:pPr>
            <a:r>
              <a:rPr lang="en-US" sz="900" dirty="0">
                <a:solidFill>
                  <a:srgbClr val="5C5C5C"/>
                </a:solidFill>
                <a:latin typeface="Segoe UI" pitchFamily="34" charset="0"/>
                <a:ea typeface="Segoe UI" pitchFamily="34" charset="-122"/>
                <a:cs typeface="Segoe UI" pitchFamily="34" charset="-120"/>
              </a:rPr>
              <a:t>Fausto Palma | Glauco Rocco | Hackathon 2026</a:t>
            </a:r>
            <a:endParaRPr lang="en-US" sz="900" dirty="0"/>
          </a:p>
        </p:txBody>
      </p:sp>
      <p:sp>
        <p:nvSpPr>
          <p:cNvPr id="5" name="Text 3">
            <a:hlinkClick r:id="rId3"/>
          </p:cNvPr>
          <p:cNvSpPr/>
          <p:nvPr/>
        </p:nvSpPr>
        <p:spPr>
          <a:xfrm>
            <a:off x="6858000" y="4764024"/>
            <a:ext cx="1417320" cy="201168"/>
          </a:xfrm>
          <a:prstGeom prst="rect">
            <a:avLst/>
          </a:prstGeom>
          <a:noFill/>
          <a:ln/>
        </p:spPr>
        <p:txBody>
          <a:bodyPr wrap="square" lIns="0" tIns="0" rIns="0" bIns="0" rtlCol="0" anchor="t"/>
          <a:lstStyle/>
          <a:p>
            <a:pPr marL="0" indent="0" algn="r">
              <a:buNone/>
            </a:pPr>
            <a:r>
              <a:rPr lang="en-US" sz="1000" u="sng" dirty="0">
                <a:solidFill>
                  <a:srgbClr val="B11F4B"/>
                </a:solidFill>
                <a:latin typeface="Segoe UI" pitchFamily="34" charset="0"/>
                <a:ea typeface="Segoe UI" pitchFamily="34" charset="-122"/>
                <a:cs typeface="Segoe UI" pitchFamily="34" charset="-120"/>
                <a:hlinkClick r:id="rId3">
                  <a:extLst>
                    <a:ext uri="{A12FA001-AC4F-418D-AE19-62706E023703}">
                      <ahyp:hlinkClr xmlns:ahyp="http://schemas.microsoft.com/office/drawing/2018/hyperlinkcolor" val="tx"/>
                    </a:ext>
                  </a:extLst>
                </a:hlinkClick>
              </a:rPr>
              <a:t>lanternina.com</a:t>
            </a:r>
            <a:endParaRPr lang="en-US" sz="1000" dirty="0"/>
          </a:p>
        </p:txBody>
      </p:sp>
      <p:sp>
        <p:nvSpPr>
          <p:cNvPr id="6" name="Text 4"/>
          <p:cNvSpPr/>
          <p:nvPr/>
        </p:nvSpPr>
        <p:spPr>
          <a:xfrm>
            <a:off x="8394192" y="4782312"/>
            <a:ext cx="246888" cy="164592"/>
          </a:xfrm>
          <a:prstGeom prst="rect">
            <a:avLst/>
          </a:prstGeom>
          <a:noFill/>
          <a:ln/>
        </p:spPr>
        <p:txBody>
          <a:bodyPr wrap="square" lIns="0" tIns="0" rIns="0" bIns="0" rtlCol="0" anchor="t"/>
          <a:lstStyle/>
          <a:p>
            <a:pPr marL="0" indent="0" algn="r">
              <a:buNone/>
            </a:pPr>
            <a:r>
              <a:rPr lang="en-US" sz="900" dirty="0">
                <a:solidFill>
                  <a:srgbClr val="5C5C5C"/>
                </a:solidFill>
                <a:latin typeface="Segoe UI" pitchFamily="34" charset="0"/>
                <a:ea typeface="Segoe UI" pitchFamily="34" charset="-122"/>
                <a:cs typeface="Segoe UI" pitchFamily="34" charset="-120"/>
              </a:rPr>
              <a:t>03</a:t>
            </a:r>
            <a:endParaRPr lang="en-US" sz="900" dirty="0"/>
          </a:p>
        </p:txBody>
      </p:sp>
      <p:sp>
        <p:nvSpPr>
          <p:cNvPr id="7" name="Text 5"/>
          <p:cNvSpPr/>
          <p:nvPr/>
        </p:nvSpPr>
        <p:spPr>
          <a:xfrm>
            <a:off x="502920" y="804672"/>
            <a:ext cx="8138160" cy="640080"/>
          </a:xfrm>
          <a:prstGeom prst="rect">
            <a:avLst/>
          </a:prstGeom>
          <a:noFill/>
          <a:ln/>
        </p:spPr>
        <p:txBody>
          <a:bodyPr wrap="square" lIns="0" tIns="0" rIns="0" bIns="0" rtlCol="0" anchor="t"/>
          <a:lstStyle/>
          <a:p>
            <a:pPr marL="0" indent="0">
              <a:buNone/>
            </a:pPr>
            <a:r>
              <a:rPr lang="en-US" sz="3200" b="1" dirty="0">
                <a:solidFill>
                  <a:srgbClr val="242424"/>
                </a:solidFill>
                <a:latin typeface="Segoe UI" pitchFamily="34" charset="0"/>
                <a:ea typeface="Segoe UI" pitchFamily="34" charset="-122"/>
                <a:cs typeface="Segoe UI" pitchFamily="34" charset="-120"/>
              </a:rPr>
              <a:t>Agents plan. The hub executes.</a:t>
            </a:r>
            <a:endParaRPr lang="en-US" sz="3200" dirty="0"/>
          </a:p>
        </p:txBody>
      </p:sp>
      <p:sp>
        <p:nvSpPr>
          <p:cNvPr id="8" name="Shape 6"/>
          <p:cNvSpPr/>
          <p:nvPr/>
        </p:nvSpPr>
        <p:spPr>
          <a:xfrm>
            <a:off x="502920" y="1581912"/>
            <a:ext cx="2788920" cy="2468880"/>
          </a:xfrm>
          <a:prstGeom prst="rect">
            <a:avLst/>
          </a:prstGeom>
          <a:solidFill>
            <a:srgbClr val="FAEDF1"/>
          </a:solidFill>
          <a:ln w="8890">
            <a:solidFill>
              <a:srgbClr val="FAEDF1"/>
            </a:solidFill>
            <a:prstDash val="solid"/>
          </a:ln>
        </p:spPr>
      </p:sp>
      <p:sp>
        <p:nvSpPr>
          <p:cNvPr id="9" name="Text 7"/>
          <p:cNvSpPr/>
          <p:nvPr/>
        </p:nvSpPr>
        <p:spPr>
          <a:xfrm>
            <a:off x="713232" y="1810512"/>
            <a:ext cx="2377440" cy="365760"/>
          </a:xfrm>
          <a:prstGeom prst="rect">
            <a:avLst/>
          </a:prstGeom>
          <a:noFill/>
          <a:ln/>
        </p:spPr>
        <p:txBody>
          <a:bodyPr wrap="square" lIns="0" tIns="0" rIns="0" bIns="0" rtlCol="0" anchor="t"/>
          <a:lstStyle/>
          <a:p>
            <a:pPr marL="0" indent="0">
              <a:buNone/>
            </a:pPr>
            <a:r>
              <a:rPr lang="en-US" sz="2200" b="1" dirty="0">
                <a:solidFill>
                  <a:srgbClr val="B11F4B"/>
                </a:solidFill>
                <a:latin typeface="Segoe UI" pitchFamily="34" charset="0"/>
                <a:ea typeface="Segoe UI" pitchFamily="34" charset="-122"/>
                <a:cs typeface="Segoe UI" pitchFamily="34" charset="-120"/>
              </a:rPr>
              <a:t>Agents in Azure</a:t>
            </a:r>
            <a:endParaRPr lang="en-US" sz="2200" dirty="0"/>
          </a:p>
        </p:txBody>
      </p:sp>
      <p:sp>
        <p:nvSpPr>
          <p:cNvPr id="10" name="Text 8"/>
          <p:cNvSpPr/>
          <p:nvPr/>
        </p:nvSpPr>
        <p:spPr>
          <a:xfrm>
            <a:off x="713232" y="2231136"/>
            <a:ext cx="2377440" cy="219456"/>
          </a:xfrm>
          <a:prstGeom prst="rect">
            <a:avLst/>
          </a:prstGeom>
          <a:noFill/>
          <a:ln/>
        </p:spPr>
        <p:txBody>
          <a:bodyPr wrap="square" lIns="0" tIns="0" rIns="0" bIns="0" rtlCol="0" anchor="t"/>
          <a:lstStyle/>
          <a:p>
            <a:pPr marL="0" indent="0">
              <a:buNone/>
            </a:pPr>
            <a:r>
              <a:rPr lang="en-US" sz="1150" dirty="0">
                <a:solidFill>
                  <a:srgbClr val="5C5C5C"/>
                </a:solidFill>
                <a:latin typeface="Segoe UI" pitchFamily="34" charset="0"/>
                <a:ea typeface="Segoe UI" pitchFamily="34" charset="-122"/>
                <a:cs typeface="Segoe UI" pitchFamily="34" charset="-120"/>
              </a:rPr>
              <a:t>Running on Azure Container Apps</a:t>
            </a:r>
            <a:endParaRPr lang="en-US" sz="1150" dirty="0"/>
          </a:p>
        </p:txBody>
      </p:sp>
      <p:sp>
        <p:nvSpPr>
          <p:cNvPr id="11" name="Text 9"/>
          <p:cNvSpPr/>
          <p:nvPr/>
        </p:nvSpPr>
        <p:spPr>
          <a:xfrm>
            <a:off x="713232" y="2660904"/>
            <a:ext cx="548640" cy="265176"/>
          </a:xfrm>
          <a:prstGeom prst="rect">
            <a:avLst/>
          </a:prstGeom>
          <a:noFill/>
          <a:ln/>
        </p:spPr>
        <p:txBody>
          <a:bodyPr wrap="square" lIns="0" tIns="0" rIns="0" bIns="0" rtlCol="0" anchor="t"/>
          <a:lstStyle/>
          <a:p>
            <a:pPr marL="0" indent="0">
              <a:buNone/>
            </a:pPr>
            <a:r>
              <a:rPr lang="en-US" sz="1550" b="1" dirty="0">
                <a:solidFill>
                  <a:srgbClr val="B11F4B"/>
                </a:solidFill>
                <a:latin typeface="Segoe UI" pitchFamily="34" charset="0"/>
                <a:ea typeface="Segoe UI" pitchFamily="34" charset="-122"/>
                <a:cs typeface="Segoe UI" pitchFamily="34" charset="-120"/>
              </a:rPr>
              <a:t>Plan</a:t>
            </a:r>
            <a:endParaRPr lang="en-US" sz="1550" dirty="0"/>
          </a:p>
        </p:txBody>
      </p:sp>
      <p:sp>
        <p:nvSpPr>
          <p:cNvPr id="12" name="Text 10"/>
          <p:cNvSpPr/>
          <p:nvPr/>
        </p:nvSpPr>
        <p:spPr>
          <a:xfrm>
            <a:off x="1380744" y="2679192"/>
            <a:ext cx="1719072" cy="246888"/>
          </a:xfrm>
          <a:prstGeom prst="rect">
            <a:avLst/>
          </a:prstGeom>
          <a:noFill/>
          <a:ln/>
        </p:spPr>
        <p:txBody>
          <a:bodyPr wrap="square" lIns="0" tIns="0" rIns="0" bIns="0" rtlCol="0" anchor="t"/>
          <a:lstStyle/>
          <a:p>
            <a:pPr marL="0" indent="0">
              <a:buNone/>
            </a:pPr>
            <a:r>
              <a:rPr lang="en-US" sz="1250" dirty="0">
                <a:solidFill>
                  <a:srgbClr val="242424"/>
                </a:solidFill>
                <a:latin typeface="Segoe UI" pitchFamily="34" charset="0"/>
                <a:ea typeface="Segoe UI" pitchFamily="34" charset="-122"/>
                <a:cs typeface="Segoe UI" pitchFamily="34" charset="-120"/>
              </a:rPr>
              <a:t>Activity and next steps</a:t>
            </a:r>
            <a:endParaRPr lang="en-US" sz="1250" dirty="0"/>
          </a:p>
        </p:txBody>
      </p:sp>
      <p:sp>
        <p:nvSpPr>
          <p:cNvPr id="13" name="Text 11"/>
          <p:cNvSpPr/>
          <p:nvPr/>
        </p:nvSpPr>
        <p:spPr>
          <a:xfrm>
            <a:off x="713232" y="3044952"/>
            <a:ext cx="548640" cy="265176"/>
          </a:xfrm>
          <a:prstGeom prst="rect">
            <a:avLst/>
          </a:prstGeom>
          <a:noFill/>
          <a:ln/>
        </p:spPr>
        <p:txBody>
          <a:bodyPr wrap="square" lIns="0" tIns="0" rIns="0" bIns="0" rtlCol="0" anchor="t"/>
          <a:lstStyle/>
          <a:p>
            <a:pPr marL="0" indent="0">
              <a:buNone/>
            </a:pPr>
            <a:r>
              <a:rPr lang="en-US" sz="1550" b="1" dirty="0">
                <a:solidFill>
                  <a:srgbClr val="B11F4B"/>
                </a:solidFill>
                <a:latin typeface="Segoe UI" pitchFamily="34" charset="0"/>
                <a:ea typeface="Segoe UI" pitchFamily="34" charset="-122"/>
                <a:cs typeface="Segoe UI" pitchFamily="34" charset="-120"/>
              </a:rPr>
              <a:t>Draw</a:t>
            </a:r>
            <a:endParaRPr lang="en-US" sz="1550" dirty="0"/>
          </a:p>
        </p:txBody>
      </p:sp>
      <p:sp>
        <p:nvSpPr>
          <p:cNvPr id="14" name="Text 12"/>
          <p:cNvSpPr/>
          <p:nvPr/>
        </p:nvSpPr>
        <p:spPr>
          <a:xfrm>
            <a:off x="1380744" y="3063240"/>
            <a:ext cx="1719072" cy="246888"/>
          </a:xfrm>
          <a:prstGeom prst="rect">
            <a:avLst/>
          </a:prstGeom>
          <a:noFill/>
          <a:ln/>
        </p:spPr>
        <p:txBody>
          <a:bodyPr wrap="square" lIns="0" tIns="0" rIns="0" bIns="0" rtlCol="0" anchor="t"/>
          <a:lstStyle/>
          <a:p>
            <a:pPr marL="0" indent="0">
              <a:buNone/>
            </a:pPr>
            <a:r>
              <a:rPr lang="en-US" sz="1250" dirty="0">
                <a:solidFill>
                  <a:srgbClr val="242424"/>
                </a:solidFill>
                <a:latin typeface="Segoe UI" pitchFamily="34" charset="0"/>
                <a:ea typeface="Segoe UI" pitchFamily="34" charset="-122"/>
                <a:cs typeface="Segoe UI" pitchFamily="34" charset="-120"/>
              </a:rPr>
              <a:t>Pages to print</a:t>
            </a:r>
            <a:endParaRPr lang="en-US" sz="1250" dirty="0"/>
          </a:p>
        </p:txBody>
      </p:sp>
      <p:sp>
        <p:nvSpPr>
          <p:cNvPr id="15" name="Text 13"/>
          <p:cNvSpPr/>
          <p:nvPr/>
        </p:nvSpPr>
        <p:spPr>
          <a:xfrm>
            <a:off x="713232" y="3429000"/>
            <a:ext cx="548640" cy="265176"/>
          </a:xfrm>
          <a:prstGeom prst="rect">
            <a:avLst/>
          </a:prstGeom>
          <a:noFill/>
          <a:ln/>
        </p:spPr>
        <p:txBody>
          <a:bodyPr wrap="square" lIns="0" tIns="0" rIns="0" bIns="0" rtlCol="0" anchor="t"/>
          <a:lstStyle/>
          <a:p>
            <a:pPr marL="0" indent="0">
              <a:buNone/>
            </a:pPr>
            <a:r>
              <a:rPr lang="en-US" sz="1550" b="1" dirty="0">
                <a:solidFill>
                  <a:srgbClr val="B11F4B"/>
                </a:solidFill>
                <a:latin typeface="Segoe UI" pitchFamily="34" charset="0"/>
                <a:ea typeface="Segoe UI" pitchFamily="34" charset="-122"/>
                <a:cs typeface="Segoe UI" pitchFamily="34" charset="-120"/>
              </a:rPr>
              <a:t>Read</a:t>
            </a:r>
            <a:endParaRPr lang="en-US" sz="1550" dirty="0"/>
          </a:p>
        </p:txBody>
      </p:sp>
      <p:sp>
        <p:nvSpPr>
          <p:cNvPr id="16" name="Text 14"/>
          <p:cNvSpPr/>
          <p:nvPr/>
        </p:nvSpPr>
        <p:spPr>
          <a:xfrm>
            <a:off x="1380744" y="3447288"/>
            <a:ext cx="1719072" cy="246888"/>
          </a:xfrm>
          <a:prstGeom prst="rect">
            <a:avLst/>
          </a:prstGeom>
          <a:noFill/>
          <a:ln/>
        </p:spPr>
        <p:txBody>
          <a:bodyPr wrap="square" lIns="0" tIns="0" rIns="0" bIns="0" rtlCol="0" anchor="t"/>
          <a:lstStyle/>
          <a:p>
            <a:pPr marL="0" indent="0">
              <a:buNone/>
            </a:pPr>
            <a:r>
              <a:rPr lang="en-US" sz="1250" dirty="0">
                <a:solidFill>
                  <a:srgbClr val="242424"/>
                </a:solidFill>
                <a:latin typeface="Segoe UI" pitchFamily="34" charset="0"/>
                <a:ea typeface="Segoe UI" pitchFamily="34" charset="-122"/>
                <a:cs typeface="Segoe UI" pitchFamily="34" charset="-120"/>
              </a:rPr>
              <a:t>Photographed replies</a:t>
            </a:r>
            <a:endParaRPr lang="en-US" sz="1250" dirty="0"/>
          </a:p>
        </p:txBody>
      </p:sp>
      <p:pic>
        <p:nvPicPr>
          <p:cNvPr id="17" name="Image 0" descr="Microsoft Foundry icon"/>
          <p:cNvPicPr>
            <a:picLocks noChangeAspect="1"/>
          </p:cNvPicPr>
          <p:nvPr/>
        </p:nvPicPr>
        <p:blipFill>
          <a:blip r:embed="rId4"/>
          <a:stretch>
            <a:fillRect/>
          </a:stretch>
        </p:blipFill>
        <p:spPr>
          <a:xfrm>
            <a:off x="713232" y="3776472"/>
            <a:ext cx="182880" cy="182880"/>
          </a:xfrm>
          <a:prstGeom prst="rect">
            <a:avLst/>
          </a:prstGeom>
        </p:spPr>
      </p:pic>
      <p:sp>
        <p:nvSpPr>
          <p:cNvPr id="18" name="Text 15"/>
          <p:cNvSpPr/>
          <p:nvPr/>
        </p:nvSpPr>
        <p:spPr>
          <a:xfrm>
            <a:off x="987552" y="3758184"/>
            <a:ext cx="2112264" cy="210312"/>
          </a:xfrm>
          <a:prstGeom prst="rect">
            <a:avLst/>
          </a:prstGeom>
          <a:noFill/>
          <a:ln/>
        </p:spPr>
        <p:txBody>
          <a:bodyPr wrap="square" lIns="0" tIns="0" rIns="0" bIns="0" rtlCol="0" anchor="t"/>
          <a:lstStyle/>
          <a:p>
            <a:pPr marL="0" indent="0">
              <a:buNone/>
            </a:pPr>
            <a:r>
              <a:rPr lang="en-US" sz="1050" dirty="0">
                <a:solidFill>
                  <a:srgbClr val="5C5C5C"/>
                </a:solidFill>
                <a:latin typeface="Segoe UI" pitchFamily="34" charset="0"/>
                <a:ea typeface="Segoe UI" pitchFamily="34" charset="-122"/>
                <a:cs typeface="Segoe UI" pitchFamily="34" charset="-120"/>
              </a:rPr>
              <a:t>Calls Microsoft Foundry models</a:t>
            </a:r>
            <a:endParaRPr lang="en-US" sz="1050" dirty="0"/>
          </a:p>
        </p:txBody>
      </p:sp>
      <p:sp>
        <p:nvSpPr>
          <p:cNvPr id="19" name="Text 16"/>
          <p:cNvSpPr/>
          <p:nvPr/>
        </p:nvSpPr>
        <p:spPr>
          <a:xfrm>
            <a:off x="3959352" y="1874520"/>
            <a:ext cx="1499616" cy="310896"/>
          </a:xfrm>
          <a:prstGeom prst="rect">
            <a:avLst/>
          </a:prstGeom>
          <a:noFill/>
          <a:ln/>
        </p:spPr>
        <p:txBody>
          <a:bodyPr wrap="square" lIns="0" tIns="0" rIns="0" bIns="0" rtlCol="0" anchor="t"/>
          <a:lstStyle/>
          <a:p>
            <a:pPr marL="0" indent="0" algn="ctr">
              <a:buNone/>
            </a:pPr>
            <a:r>
              <a:rPr lang="en-US" sz="2000" b="1" dirty="0">
                <a:solidFill>
                  <a:srgbClr val="242424"/>
                </a:solidFill>
                <a:latin typeface="Segoe UI" pitchFamily="34" charset="0"/>
                <a:ea typeface="Segoe UI" pitchFamily="34" charset="-122"/>
                <a:cs typeface="Segoe UI" pitchFamily="34" charset="-120"/>
              </a:rPr>
              <a:t>Linux hub</a:t>
            </a:r>
            <a:endParaRPr lang="en-US" sz="2000" dirty="0"/>
          </a:p>
        </p:txBody>
      </p:sp>
      <p:pic>
        <p:nvPicPr>
          <p:cNvPr id="20" name="Image 1" descr="Actual Raspberry Pi Compute Module 5 home hub in an open enclosure."/>
          <p:cNvPicPr>
            <a:picLocks noChangeAspect="1"/>
          </p:cNvPicPr>
          <p:nvPr/>
        </p:nvPicPr>
        <p:blipFill>
          <a:blip r:embed="rId5"/>
          <a:stretch>
            <a:fillRect/>
          </a:stretch>
        </p:blipFill>
        <p:spPr>
          <a:xfrm>
            <a:off x="4325112" y="2331720"/>
            <a:ext cx="768096" cy="1024128"/>
          </a:xfrm>
          <a:prstGeom prst="rect">
            <a:avLst/>
          </a:prstGeom>
        </p:spPr>
      </p:pic>
      <p:sp>
        <p:nvSpPr>
          <p:cNvPr id="21" name="Text 17"/>
          <p:cNvSpPr/>
          <p:nvPr/>
        </p:nvSpPr>
        <p:spPr>
          <a:xfrm>
            <a:off x="3922776" y="3538728"/>
            <a:ext cx="1572768" cy="256032"/>
          </a:xfrm>
          <a:prstGeom prst="rect">
            <a:avLst/>
          </a:prstGeom>
          <a:noFill/>
          <a:ln/>
        </p:spPr>
        <p:txBody>
          <a:bodyPr wrap="square" lIns="0" tIns="0" rIns="0" bIns="0" rtlCol="0" anchor="t"/>
          <a:lstStyle/>
          <a:p>
            <a:pPr marL="0" indent="0" algn="ctr">
              <a:buNone/>
            </a:pPr>
            <a:r>
              <a:rPr lang="en-US" sz="1250" b="1" dirty="0">
                <a:solidFill>
                  <a:srgbClr val="242424"/>
                </a:solidFill>
                <a:latin typeface="Segoe UI" pitchFamily="34" charset="0"/>
                <a:ea typeface="Segoe UI" pitchFamily="34" charset="-122"/>
                <a:cs typeface="Segoe UI" pitchFamily="34" charset="-120"/>
              </a:rPr>
              <a:t>Executes the plan</a:t>
            </a:r>
            <a:endParaRPr lang="en-US" sz="1250" dirty="0"/>
          </a:p>
        </p:txBody>
      </p:sp>
      <p:sp>
        <p:nvSpPr>
          <p:cNvPr id="22" name="Shape 18"/>
          <p:cNvSpPr/>
          <p:nvPr/>
        </p:nvSpPr>
        <p:spPr>
          <a:xfrm>
            <a:off x="3429000" y="2450592"/>
            <a:ext cx="402336" cy="0"/>
          </a:xfrm>
          <a:prstGeom prst="line">
            <a:avLst/>
          </a:prstGeom>
          <a:noFill/>
          <a:ln w="21590">
            <a:solidFill>
              <a:srgbClr val="B11F4B"/>
            </a:solidFill>
            <a:prstDash val="solid"/>
            <a:tailEnd type="triangle"/>
          </a:ln>
        </p:spPr>
      </p:sp>
      <p:sp>
        <p:nvSpPr>
          <p:cNvPr id="23" name="Text 19"/>
          <p:cNvSpPr/>
          <p:nvPr/>
        </p:nvSpPr>
        <p:spPr>
          <a:xfrm>
            <a:off x="3355848" y="2167128"/>
            <a:ext cx="548640" cy="182880"/>
          </a:xfrm>
          <a:prstGeom prst="rect">
            <a:avLst/>
          </a:prstGeom>
          <a:noFill/>
          <a:ln/>
        </p:spPr>
        <p:txBody>
          <a:bodyPr wrap="square" lIns="0" tIns="0" rIns="0" bIns="0" rtlCol="0" anchor="t"/>
          <a:lstStyle/>
          <a:p>
            <a:pPr marL="0" indent="0" algn="ctr">
              <a:buNone/>
            </a:pPr>
            <a:r>
              <a:rPr lang="en-US" sz="1000" dirty="0">
                <a:solidFill>
                  <a:srgbClr val="B11F4B"/>
                </a:solidFill>
                <a:latin typeface="Segoe UI" pitchFamily="34" charset="0"/>
                <a:ea typeface="Segoe UI" pitchFamily="34" charset="-122"/>
                <a:cs typeface="Segoe UI" pitchFamily="34" charset="-120"/>
              </a:rPr>
              <a:t>Plan</a:t>
            </a:r>
            <a:endParaRPr lang="en-US" sz="1000" dirty="0"/>
          </a:p>
        </p:txBody>
      </p:sp>
      <p:sp>
        <p:nvSpPr>
          <p:cNvPr id="24" name="Shape 20"/>
          <p:cNvSpPr/>
          <p:nvPr/>
        </p:nvSpPr>
        <p:spPr>
          <a:xfrm>
            <a:off x="3429000" y="3108960"/>
            <a:ext cx="402336" cy="0"/>
          </a:xfrm>
          <a:prstGeom prst="line">
            <a:avLst/>
          </a:prstGeom>
          <a:noFill/>
          <a:ln w="21590">
            <a:solidFill>
              <a:srgbClr val="0078D4"/>
            </a:solidFill>
            <a:prstDash val="solid"/>
            <a:headEnd type="triangle"/>
          </a:ln>
        </p:spPr>
      </p:sp>
      <p:sp>
        <p:nvSpPr>
          <p:cNvPr id="25" name="Text 21"/>
          <p:cNvSpPr/>
          <p:nvPr/>
        </p:nvSpPr>
        <p:spPr>
          <a:xfrm>
            <a:off x="3337560" y="3255264"/>
            <a:ext cx="594360" cy="182880"/>
          </a:xfrm>
          <a:prstGeom prst="rect">
            <a:avLst/>
          </a:prstGeom>
          <a:noFill/>
          <a:ln/>
        </p:spPr>
        <p:txBody>
          <a:bodyPr wrap="square" lIns="0" tIns="0" rIns="0" bIns="0" rtlCol="0" anchor="t"/>
          <a:lstStyle/>
          <a:p>
            <a:pPr marL="0" indent="0" algn="ctr">
              <a:buNone/>
            </a:pPr>
            <a:r>
              <a:rPr lang="en-US" sz="1000" dirty="0">
                <a:solidFill>
                  <a:srgbClr val="0078D4"/>
                </a:solidFill>
                <a:latin typeface="Segoe UI" pitchFamily="34" charset="0"/>
                <a:ea typeface="Segoe UI" pitchFamily="34" charset="-122"/>
                <a:cs typeface="Segoe UI" pitchFamily="34" charset="-120"/>
              </a:rPr>
              <a:t>Replies</a:t>
            </a:r>
            <a:endParaRPr lang="en-US" sz="1000" dirty="0"/>
          </a:p>
        </p:txBody>
      </p:sp>
      <p:sp>
        <p:nvSpPr>
          <p:cNvPr id="26" name="Shape 22"/>
          <p:cNvSpPr/>
          <p:nvPr/>
        </p:nvSpPr>
        <p:spPr>
          <a:xfrm>
            <a:off x="5577840" y="2496312"/>
            <a:ext cx="466344" cy="0"/>
          </a:xfrm>
          <a:prstGeom prst="line">
            <a:avLst/>
          </a:prstGeom>
          <a:noFill/>
          <a:ln w="21590">
            <a:solidFill>
              <a:srgbClr val="B11F4B"/>
            </a:solidFill>
            <a:prstDash val="solid"/>
          </a:ln>
        </p:spPr>
      </p:sp>
      <p:sp>
        <p:nvSpPr>
          <p:cNvPr id="27" name="Shape 23"/>
          <p:cNvSpPr/>
          <p:nvPr/>
        </p:nvSpPr>
        <p:spPr>
          <a:xfrm>
            <a:off x="6044184" y="2002536"/>
            <a:ext cx="0" cy="822960"/>
          </a:xfrm>
          <a:prstGeom prst="line">
            <a:avLst/>
          </a:prstGeom>
          <a:noFill/>
          <a:ln w="21590">
            <a:solidFill>
              <a:srgbClr val="B11F4B"/>
            </a:solidFill>
            <a:prstDash val="solid"/>
          </a:ln>
        </p:spPr>
      </p:sp>
      <p:sp>
        <p:nvSpPr>
          <p:cNvPr id="28" name="Shape 24"/>
          <p:cNvSpPr/>
          <p:nvPr/>
        </p:nvSpPr>
        <p:spPr>
          <a:xfrm>
            <a:off x="6044184" y="2002536"/>
            <a:ext cx="274320" cy="0"/>
          </a:xfrm>
          <a:prstGeom prst="line">
            <a:avLst/>
          </a:prstGeom>
          <a:noFill/>
          <a:ln w="21590">
            <a:solidFill>
              <a:srgbClr val="B11F4B"/>
            </a:solidFill>
            <a:prstDash val="solid"/>
            <a:tailEnd type="triangle"/>
          </a:ln>
        </p:spPr>
      </p:sp>
      <p:sp>
        <p:nvSpPr>
          <p:cNvPr id="29" name="Shape 25"/>
          <p:cNvSpPr/>
          <p:nvPr/>
        </p:nvSpPr>
        <p:spPr>
          <a:xfrm>
            <a:off x="6044184" y="2825496"/>
            <a:ext cx="274320" cy="0"/>
          </a:xfrm>
          <a:prstGeom prst="line">
            <a:avLst/>
          </a:prstGeom>
          <a:noFill/>
          <a:ln w="21590">
            <a:solidFill>
              <a:srgbClr val="B11F4B"/>
            </a:solidFill>
            <a:prstDash val="solid"/>
            <a:tailEnd type="triangle"/>
          </a:ln>
        </p:spPr>
      </p:sp>
      <p:sp>
        <p:nvSpPr>
          <p:cNvPr id="30" name="Shape 26"/>
          <p:cNvSpPr/>
          <p:nvPr/>
        </p:nvSpPr>
        <p:spPr>
          <a:xfrm>
            <a:off x="5852160" y="3648456"/>
            <a:ext cx="466344" cy="0"/>
          </a:xfrm>
          <a:prstGeom prst="line">
            <a:avLst/>
          </a:prstGeom>
          <a:noFill/>
          <a:ln w="21590">
            <a:solidFill>
              <a:srgbClr val="0078D4"/>
            </a:solidFill>
            <a:prstDash val="solid"/>
          </a:ln>
        </p:spPr>
      </p:sp>
      <p:sp>
        <p:nvSpPr>
          <p:cNvPr id="31" name="Shape 27"/>
          <p:cNvSpPr/>
          <p:nvPr/>
        </p:nvSpPr>
        <p:spPr>
          <a:xfrm>
            <a:off x="5852160" y="3108960"/>
            <a:ext cx="0" cy="539496"/>
          </a:xfrm>
          <a:prstGeom prst="line">
            <a:avLst/>
          </a:prstGeom>
          <a:noFill/>
          <a:ln w="21590">
            <a:solidFill>
              <a:srgbClr val="0078D4"/>
            </a:solidFill>
            <a:prstDash val="solid"/>
          </a:ln>
        </p:spPr>
      </p:sp>
      <p:sp>
        <p:nvSpPr>
          <p:cNvPr id="32" name="Shape 28"/>
          <p:cNvSpPr/>
          <p:nvPr/>
        </p:nvSpPr>
        <p:spPr>
          <a:xfrm>
            <a:off x="5577840" y="3108960"/>
            <a:ext cx="274320" cy="0"/>
          </a:xfrm>
          <a:prstGeom prst="line">
            <a:avLst/>
          </a:prstGeom>
          <a:noFill/>
          <a:ln w="21590">
            <a:solidFill>
              <a:srgbClr val="0078D4"/>
            </a:solidFill>
            <a:prstDash val="solid"/>
            <a:headEnd type="triangle"/>
          </a:ln>
        </p:spPr>
      </p:sp>
      <p:pic>
        <p:nvPicPr>
          <p:cNvPr id="33" name="Image 2" descr="Illustration of a printer producing a Lanternina activity sheet."/>
          <p:cNvPicPr>
            <a:picLocks noChangeAspect="1"/>
          </p:cNvPicPr>
          <p:nvPr/>
        </p:nvPicPr>
        <p:blipFill>
          <a:blip r:embed="rId6"/>
          <a:stretch>
            <a:fillRect/>
          </a:stretch>
        </p:blipFill>
        <p:spPr>
          <a:xfrm>
            <a:off x="6446520" y="1636776"/>
            <a:ext cx="969264" cy="731520"/>
          </a:xfrm>
          <a:prstGeom prst="rect">
            <a:avLst/>
          </a:prstGeom>
        </p:spPr>
      </p:pic>
      <p:sp>
        <p:nvSpPr>
          <p:cNvPr id="34" name="Text 29"/>
          <p:cNvSpPr/>
          <p:nvPr/>
        </p:nvSpPr>
        <p:spPr>
          <a:xfrm>
            <a:off x="7571232" y="1700784"/>
            <a:ext cx="1069848" cy="256032"/>
          </a:xfrm>
          <a:prstGeom prst="rect">
            <a:avLst/>
          </a:prstGeom>
          <a:noFill/>
          <a:ln/>
        </p:spPr>
        <p:txBody>
          <a:bodyPr wrap="square" lIns="0" tIns="0" rIns="0" bIns="0" rtlCol="0" anchor="t"/>
          <a:lstStyle/>
          <a:p>
            <a:pPr marL="0" indent="0">
              <a:buNone/>
            </a:pPr>
            <a:r>
              <a:rPr lang="en-US" sz="1550" b="1" dirty="0">
                <a:solidFill>
                  <a:srgbClr val="242424"/>
                </a:solidFill>
                <a:latin typeface="Segoe UI" pitchFamily="34" charset="0"/>
                <a:ea typeface="Segoe UI" pitchFamily="34" charset="-122"/>
                <a:cs typeface="Segoe UI" pitchFamily="34" charset="-120"/>
              </a:rPr>
              <a:t>Printer</a:t>
            </a:r>
            <a:endParaRPr lang="en-US" sz="1550" dirty="0"/>
          </a:p>
        </p:txBody>
      </p:sp>
      <p:sp>
        <p:nvSpPr>
          <p:cNvPr id="35" name="Text 30"/>
          <p:cNvSpPr/>
          <p:nvPr/>
        </p:nvSpPr>
        <p:spPr>
          <a:xfrm>
            <a:off x="7571232" y="2011680"/>
            <a:ext cx="1069848" cy="210312"/>
          </a:xfrm>
          <a:prstGeom prst="rect">
            <a:avLst/>
          </a:prstGeom>
          <a:noFill/>
          <a:ln/>
        </p:spPr>
        <p:txBody>
          <a:bodyPr wrap="square" lIns="0" tIns="0" rIns="0" bIns="0" rtlCol="0" anchor="t"/>
          <a:lstStyle/>
          <a:p>
            <a:pPr marL="0" indent="0">
              <a:buNone/>
            </a:pPr>
            <a:r>
              <a:rPr lang="en-US" sz="1150" dirty="0">
                <a:solidFill>
                  <a:srgbClr val="5C5C5C"/>
                </a:solidFill>
                <a:latin typeface="Segoe UI" pitchFamily="34" charset="0"/>
                <a:ea typeface="Segoe UI" pitchFamily="34" charset="-122"/>
                <a:cs typeface="Segoe UI" pitchFamily="34" charset="-120"/>
              </a:rPr>
              <a:t>Prints pages</a:t>
            </a:r>
            <a:endParaRPr lang="en-US" sz="1150" dirty="0"/>
          </a:p>
        </p:txBody>
      </p:sp>
      <p:sp>
        <p:nvSpPr>
          <p:cNvPr id="36" name="Text 31"/>
          <p:cNvSpPr/>
          <p:nvPr/>
        </p:nvSpPr>
        <p:spPr>
          <a:xfrm>
            <a:off x="7571232" y="2231136"/>
            <a:ext cx="1069848" cy="155448"/>
          </a:xfrm>
          <a:prstGeom prst="rect">
            <a:avLst/>
          </a:prstGeom>
          <a:noFill/>
          <a:ln/>
        </p:spPr>
        <p:txBody>
          <a:bodyPr wrap="square" lIns="0" tIns="0" rIns="0" bIns="0" rtlCol="0" anchor="t"/>
          <a:lstStyle/>
          <a:p>
            <a:pPr marL="0" indent="0">
              <a:buNone/>
            </a:pPr>
            <a:r>
              <a:rPr lang="en-US" sz="900" dirty="0">
                <a:solidFill>
                  <a:srgbClr val="5C5C5C"/>
                </a:solidFill>
                <a:latin typeface="Segoe UI" pitchFamily="34" charset="0"/>
                <a:ea typeface="Segoe UI" pitchFamily="34" charset="-122"/>
                <a:cs typeface="Segoe UI" pitchFamily="34" charset="-120"/>
              </a:rPr>
              <a:t>Illustration</a:t>
            </a:r>
            <a:endParaRPr lang="en-US" sz="900" dirty="0"/>
          </a:p>
        </p:txBody>
      </p:sp>
      <p:pic>
        <p:nvPicPr>
          <p:cNvPr id="37" name="Image 3" descr="Photograph of the e-paper display with Valle Lunga activity instructions in Italian."/>
          <p:cNvPicPr>
            <a:picLocks noChangeAspect="1"/>
          </p:cNvPicPr>
          <p:nvPr/>
        </p:nvPicPr>
        <p:blipFill>
          <a:blip r:embed="rId7"/>
          <a:stretch>
            <a:fillRect/>
          </a:stretch>
        </p:blipFill>
        <p:spPr>
          <a:xfrm>
            <a:off x="6446520" y="2459736"/>
            <a:ext cx="969264" cy="731520"/>
          </a:xfrm>
          <a:prstGeom prst="rect">
            <a:avLst/>
          </a:prstGeom>
        </p:spPr>
      </p:pic>
      <p:sp>
        <p:nvSpPr>
          <p:cNvPr id="38" name="Text 32"/>
          <p:cNvSpPr/>
          <p:nvPr/>
        </p:nvSpPr>
        <p:spPr>
          <a:xfrm>
            <a:off x="7571232" y="2523744"/>
            <a:ext cx="1069848" cy="256032"/>
          </a:xfrm>
          <a:prstGeom prst="rect">
            <a:avLst/>
          </a:prstGeom>
          <a:noFill/>
          <a:ln/>
        </p:spPr>
        <p:txBody>
          <a:bodyPr wrap="square" lIns="0" tIns="0" rIns="0" bIns="0" rtlCol="0" anchor="t"/>
          <a:lstStyle/>
          <a:p>
            <a:pPr marL="0" indent="0">
              <a:buNone/>
            </a:pPr>
            <a:r>
              <a:rPr lang="en-US" sz="1550" b="1" dirty="0">
                <a:solidFill>
                  <a:srgbClr val="242424"/>
                </a:solidFill>
                <a:latin typeface="Segoe UI" pitchFamily="34" charset="0"/>
                <a:ea typeface="Segoe UI" pitchFamily="34" charset="-122"/>
                <a:cs typeface="Segoe UI" pitchFamily="34" charset="-120"/>
              </a:rPr>
              <a:t>E-paper</a:t>
            </a:r>
            <a:endParaRPr lang="en-US" sz="1550" dirty="0"/>
          </a:p>
        </p:txBody>
      </p:sp>
      <p:sp>
        <p:nvSpPr>
          <p:cNvPr id="39" name="Text 33"/>
          <p:cNvSpPr/>
          <p:nvPr/>
        </p:nvSpPr>
        <p:spPr>
          <a:xfrm>
            <a:off x="7571232" y="2834640"/>
            <a:ext cx="1069848" cy="210312"/>
          </a:xfrm>
          <a:prstGeom prst="rect">
            <a:avLst/>
          </a:prstGeom>
          <a:noFill/>
          <a:ln/>
        </p:spPr>
        <p:txBody>
          <a:bodyPr wrap="square" lIns="0" tIns="0" rIns="0" bIns="0" rtlCol="0" anchor="t"/>
          <a:lstStyle/>
          <a:p>
            <a:pPr marL="0" indent="0">
              <a:buNone/>
            </a:pPr>
            <a:r>
              <a:rPr lang="en-US" sz="1150" dirty="0">
                <a:solidFill>
                  <a:srgbClr val="5C5C5C"/>
                </a:solidFill>
                <a:latin typeface="Segoe UI" pitchFamily="34" charset="0"/>
                <a:ea typeface="Segoe UI" pitchFamily="34" charset="-122"/>
                <a:cs typeface="Segoe UI" pitchFamily="34" charset="-120"/>
              </a:rPr>
              <a:t>Shows steps</a:t>
            </a:r>
            <a:endParaRPr lang="en-US" sz="1150" dirty="0"/>
          </a:p>
        </p:txBody>
      </p:sp>
      <p:pic>
        <p:nvPicPr>
          <p:cNvPr id="40" name="Image 4" descr="Photograph of the handheld camera prototype."/>
          <p:cNvPicPr>
            <a:picLocks noChangeAspect="1"/>
          </p:cNvPicPr>
          <p:nvPr/>
        </p:nvPicPr>
        <p:blipFill>
          <a:blip r:embed="rId8"/>
          <a:stretch>
            <a:fillRect/>
          </a:stretch>
        </p:blipFill>
        <p:spPr>
          <a:xfrm>
            <a:off x="6446520" y="3282696"/>
            <a:ext cx="969264" cy="731520"/>
          </a:xfrm>
          <a:prstGeom prst="rect">
            <a:avLst/>
          </a:prstGeom>
        </p:spPr>
      </p:pic>
      <p:sp>
        <p:nvSpPr>
          <p:cNvPr id="41" name="Text 34"/>
          <p:cNvSpPr/>
          <p:nvPr/>
        </p:nvSpPr>
        <p:spPr>
          <a:xfrm>
            <a:off x="7571232" y="3346704"/>
            <a:ext cx="1069848" cy="256032"/>
          </a:xfrm>
          <a:prstGeom prst="rect">
            <a:avLst/>
          </a:prstGeom>
          <a:noFill/>
          <a:ln/>
        </p:spPr>
        <p:txBody>
          <a:bodyPr wrap="square" lIns="0" tIns="0" rIns="0" bIns="0" rtlCol="0" anchor="t"/>
          <a:lstStyle/>
          <a:p>
            <a:pPr marL="0" indent="0">
              <a:buNone/>
            </a:pPr>
            <a:r>
              <a:rPr lang="en-US" sz="1550" b="1" dirty="0">
                <a:solidFill>
                  <a:srgbClr val="242424"/>
                </a:solidFill>
                <a:latin typeface="Segoe UI" pitchFamily="34" charset="0"/>
                <a:ea typeface="Segoe UI" pitchFamily="34" charset="-122"/>
                <a:cs typeface="Segoe UI" pitchFamily="34" charset="-120"/>
              </a:rPr>
              <a:t>Camera</a:t>
            </a:r>
            <a:endParaRPr lang="en-US" sz="1550" dirty="0"/>
          </a:p>
        </p:txBody>
      </p:sp>
      <p:sp>
        <p:nvSpPr>
          <p:cNvPr id="42" name="Text 35"/>
          <p:cNvSpPr/>
          <p:nvPr/>
        </p:nvSpPr>
        <p:spPr>
          <a:xfrm>
            <a:off x="7571232" y="3657600"/>
            <a:ext cx="1069848" cy="210312"/>
          </a:xfrm>
          <a:prstGeom prst="rect">
            <a:avLst/>
          </a:prstGeom>
          <a:noFill/>
          <a:ln/>
        </p:spPr>
        <p:txBody>
          <a:bodyPr wrap="square" lIns="0" tIns="0" rIns="0" bIns="0" rtlCol="0" anchor="t"/>
          <a:lstStyle/>
          <a:p>
            <a:pPr marL="0" indent="0">
              <a:buNone/>
            </a:pPr>
            <a:r>
              <a:rPr lang="en-US" sz="1150" dirty="0">
                <a:solidFill>
                  <a:srgbClr val="5C5C5C"/>
                </a:solidFill>
                <a:latin typeface="Segoe UI" pitchFamily="34" charset="0"/>
                <a:ea typeface="Segoe UI" pitchFamily="34" charset="-122"/>
                <a:cs typeface="Segoe UI" pitchFamily="34" charset="-120"/>
              </a:rPr>
              <a:t>Reply photos</a:t>
            </a:r>
            <a:endParaRPr lang="en-US" sz="1150" dirty="0"/>
          </a:p>
        </p:txBody>
      </p:sp>
      <p:sp>
        <p:nvSpPr>
          <p:cNvPr id="43" name="Text 36"/>
          <p:cNvSpPr/>
          <p:nvPr/>
        </p:nvSpPr>
        <p:spPr>
          <a:xfrm>
            <a:off x="7571232" y="3877056"/>
            <a:ext cx="1069848" cy="155448"/>
          </a:xfrm>
          <a:prstGeom prst="rect">
            <a:avLst/>
          </a:prstGeom>
          <a:noFill/>
          <a:ln/>
        </p:spPr>
        <p:txBody>
          <a:bodyPr wrap="square" lIns="0" tIns="0" rIns="0" bIns="0" rtlCol="0" anchor="t"/>
          <a:lstStyle/>
          <a:p>
            <a:pPr marL="0" indent="0">
              <a:buNone/>
            </a:pPr>
            <a:r>
              <a:rPr lang="en-US" sz="900" dirty="0">
                <a:solidFill>
                  <a:srgbClr val="5C5C5C"/>
                </a:solidFill>
                <a:latin typeface="Segoe UI" pitchFamily="34" charset="0"/>
                <a:ea typeface="Segoe UI" pitchFamily="34" charset="-122"/>
                <a:cs typeface="Segoe UI" pitchFamily="34" charset="-120"/>
              </a:rPr>
              <a:t>Prototype</a:t>
            </a:r>
            <a:endParaRPr lang="en-US" sz="900" dirty="0"/>
          </a:p>
        </p:txBody>
      </p:sp>
      <p:sp>
        <p:nvSpPr>
          <p:cNvPr id="44" name="Text 37"/>
          <p:cNvSpPr/>
          <p:nvPr/>
        </p:nvSpPr>
        <p:spPr>
          <a:xfrm>
            <a:off x="502920" y="4242816"/>
            <a:ext cx="8138160" cy="274320"/>
          </a:xfrm>
          <a:prstGeom prst="rect">
            <a:avLst/>
          </a:prstGeom>
          <a:noFill/>
          <a:ln/>
        </p:spPr>
        <p:txBody>
          <a:bodyPr wrap="square" lIns="0" tIns="0" rIns="0" bIns="0" rtlCol="0" anchor="t"/>
          <a:lstStyle/>
          <a:p>
            <a:pPr marL="0" indent="0">
              <a:buNone/>
            </a:pPr>
            <a:r>
              <a:rPr lang="en-US" sz="1600" b="1" dirty="0">
                <a:solidFill>
                  <a:srgbClr val="0078D4"/>
                </a:solidFill>
                <a:latin typeface="Segoe UI" pitchFamily="34" charset="0"/>
                <a:ea typeface="Segoe UI" pitchFamily="34" charset="-122"/>
                <a:cs typeface="Segoe UI" pitchFamily="34" charset="-120"/>
              </a:rPr>
              <a:t>Photographs return through the hub to the agents.</a:t>
            </a:r>
            <a:endParaRPr lang="en-US" sz="1600" dirty="0"/>
          </a:p>
        </p:txBody>
      </p:sp>
      <p:sp>
        <p:nvSpPr>
          <p:cNvPr id="45" name="Text 38"/>
          <p:cNvSpPr/>
          <p:nvPr/>
        </p:nvSpPr>
        <p:spPr>
          <a:xfrm>
            <a:off x="502920" y="4517136"/>
            <a:ext cx="8138160" cy="173736"/>
          </a:xfrm>
          <a:prstGeom prst="rect">
            <a:avLst/>
          </a:prstGeom>
          <a:noFill/>
          <a:ln/>
        </p:spPr>
        <p:txBody>
          <a:bodyPr wrap="square" lIns="0" tIns="0" rIns="0" bIns="0" rtlCol="0" anchor="t"/>
          <a:lstStyle/>
          <a:p>
            <a:pPr marL="0" indent="0">
              <a:buNone/>
            </a:pPr>
            <a:r>
              <a:rPr lang="en-US" sz="1050" dirty="0">
                <a:solidFill>
                  <a:srgbClr val="5C5C5C"/>
                </a:solidFill>
                <a:latin typeface="Segoe UI" pitchFamily="34" charset="0"/>
                <a:ea typeface="Segoe UI" pitchFamily="34" charset="-122"/>
                <a:cs typeface="Segoe UI" pitchFamily="34" charset="-120"/>
              </a:rPr>
              <a:t>Initial parent approval. Text checks and Content Safety. The hub opens connections to Azure.</a:t>
            </a:r>
            <a:endParaRPr lang="en-US" sz="1050" dirty="0"/>
          </a:p>
        </p:txBody>
      </p:sp>
    </p:spTree>
    <p:extLst>
      <p:ext uri="{BB962C8B-B14F-4D97-AF65-F5344CB8AC3E}">
        <p14:creationId xmlns:p14="http://schemas.microsoft.com/office/powerpoint/2010/main" val="2185716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2011680" cy="219456"/>
          </a:xfrm>
          <a:prstGeom prst="rect">
            <a:avLst/>
          </a:prstGeom>
          <a:noFill/>
          <a:ln/>
        </p:spPr>
        <p:txBody>
          <a:bodyPr wrap="square" lIns="0" tIns="0" rIns="0" bIns="0" rtlCol="0" anchor="t"/>
          <a:lstStyle/>
          <a:p>
            <a:pPr marL="0" indent="0">
              <a:buNone/>
            </a:pPr>
            <a:r>
              <a:rPr lang="en-US" sz="1300" b="1" dirty="0">
                <a:solidFill>
                  <a:srgbClr val="242424"/>
                </a:solidFill>
                <a:latin typeface="Palatino Linotype" pitchFamily="34" charset="0"/>
                <a:ea typeface="Palatino Linotype" pitchFamily="34" charset="-122"/>
                <a:cs typeface="Palatino Linotype" pitchFamily="34" charset="-120"/>
              </a:rPr>
              <a:t>Lanternina</a:t>
            </a:r>
            <a:endParaRPr lang="en-US" sz="1300" dirty="0"/>
          </a:p>
        </p:txBody>
      </p:sp>
      <p:sp>
        <p:nvSpPr>
          <p:cNvPr id="3" name="Text 1"/>
          <p:cNvSpPr/>
          <p:nvPr/>
        </p:nvSpPr>
        <p:spPr>
          <a:xfrm>
            <a:off x="5166360" y="347472"/>
            <a:ext cx="3474720" cy="164592"/>
          </a:xfrm>
          <a:prstGeom prst="rect">
            <a:avLst/>
          </a:prstGeom>
          <a:noFill/>
          <a:ln/>
        </p:spPr>
        <p:txBody>
          <a:bodyPr wrap="square" lIns="0" tIns="0" rIns="0" bIns="0" rtlCol="0" anchor="t"/>
          <a:lstStyle/>
          <a:p>
            <a:pPr marL="0" indent="0" algn="r">
              <a:buNone/>
            </a:pPr>
            <a:r>
              <a:rPr lang="en-US" sz="900" b="1" dirty="0">
                <a:solidFill>
                  <a:srgbClr val="B11F4B"/>
                </a:solidFill>
                <a:latin typeface="Segoe UI" pitchFamily="34" charset="0"/>
                <a:ea typeface="Segoe UI" pitchFamily="34" charset="-122"/>
                <a:cs typeface="Segoe UI" pitchFamily="34" charset="-120"/>
              </a:rPr>
              <a:t>THE PRINCIPLES</a:t>
            </a:r>
            <a:endParaRPr lang="en-US" sz="900" dirty="0"/>
          </a:p>
        </p:txBody>
      </p:sp>
      <p:sp>
        <p:nvSpPr>
          <p:cNvPr id="4" name="Text 2"/>
          <p:cNvSpPr/>
          <p:nvPr/>
        </p:nvSpPr>
        <p:spPr>
          <a:xfrm>
            <a:off x="502920" y="4782312"/>
            <a:ext cx="4023360" cy="164592"/>
          </a:xfrm>
          <a:prstGeom prst="rect">
            <a:avLst/>
          </a:prstGeom>
          <a:noFill/>
          <a:ln/>
        </p:spPr>
        <p:txBody>
          <a:bodyPr wrap="square" lIns="0" tIns="0" rIns="0" bIns="0" rtlCol="0" anchor="t"/>
          <a:lstStyle/>
          <a:p>
            <a:r>
              <a:rPr lang="en-US" sz="900" dirty="0">
                <a:solidFill>
                  <a:srgbClr val="5C5C5C"/>
                </a:solidFill>
                <a:latin typeface="Segoe UI" pitchFamily="34" charset="0"/>
                <a:ea typeface="Segoe UI" pitchFamily="34" charset="-122"/>
                <a:cs typeface="Segoe UI" pitchFamily="34" charset="-120"/>
              </a:rPr>
              <a:t>Fausto Palma | Glauco Rocco | Hackathon 2026</a:t>
            </a:r>
            <a:endParaRPr lang="en-US" sz="900" dirty="0"/>
          </a:p>
        </p:txBody>
      </p:sp>
      <p:sp>
        <p:nvSpPr>
          <p:cNvPr id="5" name="Text 3">
            <a:hlinkClick r:id="rId3"/>
          </p:cNvPr>
          <p:cNvSpPr/>
          <p:nvPr/>
        </p:nvSpPr>
        <p:spPr>
          <a:xfrm>
            <a:off x="6858000" y="4764024"/>
            <a:ext cx="1417320" cy="201168"/>
          </a:xfrm>
          <a:prstGeom prst="rect">
            <a:avLst/>
          </a:prstGeom>
          <a:noFill/>
          <a:ln/>
        </p:spPr>
        <p:txBody>
          <a:bodyPr wrap="square" lIns="0" tIns="0" rIns="0" bIns="0" rtlCol="0" anchor="t"/>
          <a:lstStyle/>
          <a:p>
            <a:pPr marL="0" indent="0" algn="r">
              <a:buNone/>
            </a:pPr>
            <a:r>
              <a:rPr lang="en-US" sz="1000" u="sng" dirty="0">
                <a:solidFill>
                  <a:srgbClr val="B11F4B"/>
                </a:solidFill>
                <a:latin typeface="Segoe UI" pitchFamily="34" charset="0"/>
                <a:ea typeface="Segoe UI" pitchFamily="34" charset="-122"/>
                <a:cs typeface="Segoe UI" pitchFamily="34" charset="-120"/>
                <a:hlinkClick r:id="rId3">
                  <a:extLst>
                    <a:ext uri="{A12FA001-AC4F-418D-AE19-62706E023703}">
                      <ahyp:hlinkClr xmlns:ahyp="http://schemas.microsoft.com/office/drawing/2018/hyperlinkcolor" val="tx"/>
                    </a:ext>
                  </a:extLst>
                </a:hlinkClick>
              </a:rPr>
              <a:t>lanternina.com</a:t>
            </a:r>
            <a:endParaRPr lang="en-US" sz="1000" dirty="0"/>
          </a:p>
        </p:txBody>
      </p:sp>
      <p:sp>
        <p:nvSpPr>
          <p:cNvPr id="6" name="Text 4"/>
          <p:cNvSpPr/>
          <p:nvPr/>
        </p:nvSpPr>
        <p:spPr>
          <a:xfrm>
            <a:off x="8394192" y="4782312"/>
            <a:ext cx="246888" cy="164592"/>
          </a:xfrm>
          <a:prstGeom prst="rect">
            <a:avLst/>
          </a:prstGeom>
          <a:noFill/>
          <a:ln/>
        </p:spPr>
        <p:txBody>
          <a:bodyPr wrap="square" lIns="0" tIns="0" rIns="0" bIns="0" rtlCol="0" anchor="t"/>
          <a:lstStyle/>
          <a:p>
            <a:pPr marL="0" indent="0" algn="r">
              <a:buNone/>
            </a:pPr>
            <a:r>
              <a:rPr lang="en-US" sz="900" dirty="0">
                <a:solidFill>
                  <a:srgbClr val="5C5C5C"/>
                </a:solidFill>
                <a:latin typeface="Segoe UI" pitchFamily="34" charset="0"/>
                <a:ea typeface="Segoe UI" pitchFamily="34" charset="-122"/>
                <a:cs typeface="Segoe UI" pitchFamily="34" charset="-120"/>
              </a:rPr>
              <a:t>04</a:t>
            </a:r>
            <a:endParaRPr lang="en-US" sz="900" dirty="0"/>
          </a:p>
        </p:txBody>
      </p:sp>
      <p:sp>
        <p:nvSpPr>
          <p:cNvPr id="7" name="Text 5"/>
          <p:cNvSpPr/>
          <p:nvPr/>
        </p:nvSpPr>
        <p:spPr>
          <a:xfrm>
            <a:off x="502920" y="804672"/>
            <a:ext cx="8138160" cy="640080"/>
          </a:xfrm>
          <a:prstGeom prst="rect">
            <a:avLst/>
          </a:prstGeom>
          <a:noFill/>
          <a:ln/>
        </p:spPr>
        <p:txBody>
          <a:bodyPr wrap="square" lIns="0" tIns="0" rIns="0" bIns="0" rtlCol="0" anchor="t"/>
          <a:lstStyle/>
          <a:p>
            <a:pPr marL="0" indent="0">
              <a:buNone/>
            </a:pPr>
            <a:r>
              <a:rPr lang="en-US" sz="3200" b="1" dirty="0">
                <a:solidFill>
                  <a:srgbClr val="242424"/>
                </a:solidFill>
                <a:latin typeface="Segoe UI" pitchFamily="34" charset="0"/>
                <a:ea typeface="Segoe UI" pitchFamily="34" charset="-122"/>
                <a:cs typeface="Segoe UI" pitchFamily="34" charset="-120"/>
              </a:rPr>
              <a:t>Interest should lead to learning.</a:t>
            </a:r>
            <a:endParaRPr lang="en-US" sz="3200" dirty="0"/>
          </a:p>
        </p:txBody>
      </p:sp>
      <p:sp>
        <p:nvSpPr>
          <p:cNvPr id="8" name="Shape 6"/>
          <p:cNvSpPr/>
          <p:nvPr/>
        </p:nvSpPr>
        <p:spPr>
          <a:xfrm>
            <a:off x="5193792" y="1600200"/>
            <a:ext cx="3447288" cy="2331720"/>
          </a:xfrm>
          <a:prstGeom prst="rect">
            <a:avLst/>
          </a:prstGeom>
          <a:solidFill>
            <a:srgbClr val="FAEDF1"/>
          </a:solidFill>
          <a:ln w="8890">
            <a:solidFill>
              <a:srgbClr val="FAEDF1"/>
            </a:solidFill>
            <a:prstDash val="solid"/>
          </a:ln>
        </p:spPr>
        <p:txBody>
          <a:bodyPr/>
          <a:lstStyle/>
          <a:p>
            <a:endParaRPr lang="en-US"/>
          </a:p>
        </p:txBody>
      </p:sp>
      <p:sp>
        <p:nvSpPr>
          <p:cNvPr id="9" name="Text 7"/>
          <p:cNvSpPr/>
          <p:nvPr/>
        </p:nvSpPr>
        <p:spPr>
          <a:xfrm>
            <a:off x="502920" y="1773936"/>
            <a:ext cx="1965960" cy="210312"/>
          </a:xfrm>
          <a:prstGeom prst="rect">
            <a:avLst/>
          </a:prstGeom>
          <a:noFill/>
          <a:ln/>
        </p:spPr>
        <p:txBody>
          <a:bodyPr wrap="square" lIns="0" tIns="0" rIns="0" bIns="0" rtlCol="0" anchor="t"/>
          <a:lstStyle/>
          <a:p>
            <a:pPr marL="0" indent="0">
              <a:buNone/>
            </a:pPr>
            <a:r>
              <a:rPr lang="en-US" sz="1150" b="1" dirty="0">
                <a:solidFill>
                  <a:srgbClr val="0078D4"/>
                </a:solidFill>
                <a:latin typeface="Segoe UI" pitchFamily="34" charset="0"/>
                <a:ea typeface="Segoe UI" pitchFamily="34" charset="-122"/>
                <a:cs typeface="Segoe UI" pitchFamily="34" charset="-120"/>
              </a:rPr>
              <a:t>01</a:t>
            </a:r>
            <a:endParaRPr lang="en-US" sz="1150" dirty="0"/>
          </a:p>
        </p:txBody>
      </p:sp>
      <p:sp>
        <p:nvSpPr>
          <p:cNvPr id="10" name="Text 8"/>
          <p:cNvSpPr/>
          <p:nvPr/>
        </p:nvSpPr>
        <p:spPr>
          <a:xfrm>
            <a:off x="502920" y="2093976"/>
            <a:ext cx="1965960" cy="320040"/>
          </a:xfrm>
          <a:prstGeom prst="rect">
            <a:avLst/>
          </a:prstGeom>
          <a:noFill/>
          <a:ln/>
        </p:spPr>
        <p:txBody>
          <a:bodyPr wrap="square" lIns="0" tIns="0" rIns="0" bIns="0" rtlCol="0" anchor="t"/>
          <a:lstStyle/>
          <a:p>
            <a:pPr marL="0" indent="0">
              <a:buNone/>
            </a:pPr>
            <a:r>
              <a:rPr lang="en-US" sz="1900" b="1" dirty="0">
                <a:solidFill>
                  <a:srgbClr val="0078D4"/>
                </a:solidFill>
                <a:latin typeface="Segoe UI" pitchFamily="34" charset="0"/>
                <a:ea typeface="Segoe UI" pitchFamily="34" charset="-122"/>
                <a:cs typeface="Segoe UI" pitchFamily="34" charset="-120"/>
              </a:rPr>
              <a:t>Cybersecurity</a:t>
            </a:r>
            <a:endParaRPr lang="en-US" sz="1900" dirty="0"/>
          </a:p>
        </p:txBody>
      </p:sp>
      <p:sp>
        <p:nvSpPr>
          <p:cNvPr id="11" name="Text 9"/>
          <p:cNvSpPr/>
          <p:nvPr/>
        </p:nvSpPr>
        <p:spPr>
          <a:xfrm>
            <a:off x="2779776" y="1773936"/>
            <a:ext cx="2057400" cy="210312"/>
          </a:xfrm>
          <a:prstGeom prst="rect">
            <a:avLst/>
          </a:prstGeom>
          <a:noFill/>
          <a:ln/>
        </p:spPr>
        <p:txBody>
          <a:bodyPr wrap="square" lIns="0" tIns="0" rIns="0" bIns="0" rtlCol="0" anchor="t"/>
          <a:lstStyle/>
          <a:p>
            <a:pPr marL="0" indent="0">
              <a:buNone/>
            </a:pPr>
            <a:r>
              <a:rPr lang="en-US" sz="1150" b="1" dirty="0">
                <a:solidFill>
                  <a:srgbClr val="242424"/>
                </a:solidFill>
                <a:latin typeface="Segoe UI" pitchFamily="34" charset="0"/>
                <a:ea typeface="Segoe UI" pitchFamily="34" charset="-122"/>
                <a:cs typeface="Segoe UI" pitchFamily="34" charset="-120"/>
              </a:rPr>
              <a:t>02</a:t>
            </a:r>
            <a:endParaRPr lang="en-US" sz="1150" dirty="0"/>
          </a:p>
        </p:txBody>
      </p:sp>
      <p:sp>
        <p:nvSpPr>
          <p:cNvPr id="12" name="Text 10"/>
          <p:cNvSpPr/>
          <p:nvPr/>
        </p:nvSpPr>
        <p:spPr>
          <a:xfrm>
            <a:off x="2779776" y="2093976"/>
            <a:ext cx="2057400" cy="320040"/>
          </a:xfrm>
          <a:prstGeom prst="rect">
            <a:avLst/>
          </a:prstGeom>
          <a:noFill/>
          <a:ln/>
        </p:spPr>
        <p:txBody>
          <a:bodyPr wrap="square" lIns="0" tIns="0" rIns="0" bIns="0" rtlCol="0" anchor="t"/>
          <a:lstStyle/>
          <a:p>
            <a:pPr marL="0" indent="0">
              <a:buNone/>
            </a:pPr>
            <a:r>
              <a:rPr lang="en-US" sz="1900" b="1" dirty="0">
                <a:solidFill>
                  <a:srgbClr val="242424"/>
                </a:solidFill>
                <a:latin typeface="Segoe UI" pitchFamily="34" charset="0"/>
                <a:ea typeface="Segoe UI" pitchFamily="34" charset="-122"/>
                <a:cs typeface="Segoe UI" pitchFamily="34" charset="-120"/>
              </a:rPr>
              <a:t>Pedagogy</a:t>
            </a:r>
            <a:endParaRPr lang="en-US" sz="1900" dirty="0"/>
          </a:p>
        </p:txBody>
      </p:sp>
      <p:sp>
        <p:nvSpPr>
          <p:cNvPr id="13" name="Text 11"/>
          <p:cNvSpPr/>
          <p:nvPr/>
        </p:nvSpPr>
        <p:spPr>
          <a:xfrm>
            <a:off x="5449824" y="1773936"/>
            <a:ext cx="2926080" cy="210312"/>
          </a:xfrm>
          <a:prstGeom prst="rect">
            <a:avLst/>
          </a:prstGeom>
          <a:noFill/>
          <a:ln/>
        </p:spPr>
        <p:txBody>
          <a:bodyPr wrap="square" lIns="0" tIns="0" rIns="0" bIns="0" rtlCol="0" anchor="t"/>
          <a:lstStyle/>
          <a:p>
            <a:pPr marL="0" indent="0">
              <a:buNone/>
            </a:pPr>
            <a:r>
              <a:rPr lang="en-US" sz="1150" b="1" dirty="0">
                <a:solidFill>
                  <a:srgbClr val="B11F4B"/>
                </a:solidFill>
                <a:latin typeface="Segoe UI" pitchFamily="34" charset="0"/>
                <a:ea typeface="Segoe UI" pitchFamily="34" charset="-122"/>
                <a:cs typeface="Segoe UI" pitchFamily="34" charset="-120"/>
              </a:rPr>
              <a:t>03</a:t>
            </a:r>
            <a:endParaRPr lang="en-US" sz="1150" dirty="0"/>
          </a:p>
        </p:txBody>
      </p:sp>
      <p:sp>
        <p:nvSpPr>
          <p:cNvPr id="14" name="Text 12"/>
          <p:cNvSpPr/>
          <p:nvPr/>
        </p:nvSpPr>
        <p:spPr>
          <a:xfrm>
            <a:off x="5449824" y="2093976"/>
            <a:ext cx="2926080" cy="320040"/>
          </a:xfrm>
          <a:prstGeom prst="rect">
            <a:avLst/>
          </a:prstGeom>
          <a:noFill/>
          <a:ln/>
        </p:spPr>
        <p:txBody>
          <a:bodyPr wrap="square" lIns="0" tIns="0" rIns="0" bIns="0" rtlCol="0" anchor="t"/>
          <a:lstStyle/>
          <a:p>
            <a:pPr marL="0" indent="0">
              <a:buNone/>
            </a:pPr>
            <a:r>
              <a:rPr lang="en-US" sz="1900" b="1" dirty="0">
                <a:solidFill>
                  <a:srgbClr val="B11F4B"/>
                </a:solidFill>
                <a:latin typeface="Segoe UI" pitchFamily="34" charset="0"/>
                <a:ea typeface="Segoe UI" pitchFamily="34" charset="-122"/>
                <a:cs typeface="Segoe UI" pitchFamily="34" charset="-120"/>
              </a:rPr>
              <a:t>Responsible AI</a:t>
            </a:r>
            <a:endParaRPr lang="en-US" sz="1900" dirty="0"/>
          </a:p>
        </p:txBody>
      </p:sp>
      <p:sp>
        <p:nvSpPr>
          <p:cNvPr id="15" name="Text 13"/>
          <p:cNvSpPr/>
          <p:nvPr/>
        </p:nvSpPr>
        <p:spPr>
          <a:xfrm>
            <a:off x="502920" y="2688336"/>
            <a:ext cx="1965960" cy="640080"/>
          </a:xfrm>
          <a:prstGeom prst="rect">
            <a:avLst/>
          </a:prstGeom>
          <a:noFill/>
          <a:ln/>
        </p:spPr>
        <p:txBody>
          <a:bodyPr wrap="square" lIns="0" tIns="0" rIns="0" bIns="0" rtlCol="0" anchor="t"/>
          <a:lstStyle/>
          <a:p>
            <a:pPr marL="0" indent="0">
              <a:buNone/>
            </a:pPr>
            <a:r>
              <a:rPr lang="en-US" sz="1800" b="1" dirty="0">
                <a:solidFill>
                  <a:srgbClr val="242424"/>
                </a:solidFill>
                <a:latin typeface="Segoe UI" pitchFamily="34" charset="0"/>
                <a:ea typeface="Segoe UI" pitchFamily="34" charset="-122"/>
                <a:cs typeface="Segoe UI" pitchFamily="34" charset="-120"/>
              </a:rPr>
              <a:t>Protect the home and its data.</a:t>
            </a:r>
            <a:endParaRPr lang="en-US" sz="1800" dirty="0"/>
          </a:p>
        </p:txBody>
      </p:sp>
      <p:sp>
        <p:nvSpPr>
          <p:cNvPr id="16" name="Text 14"/>
          <p:cNvSpPr/>
          <p:nvPr/>
        </p:nvSpPr>
        <p:spPr>
          <a:xfrm>
            <a:off x="502920" y="3419856"/>
            <a:ext cx="1965960" cy="466344"/>
          </a:xfrm>
          <a:prstGeom prst="rect">
            <a:avLst/>
          </a:prstGeom>
          <a:noFill/>
          <a:ln/>
        </p:spPr>
        <p:txBody>
          <a:bodyPr wrap="square" lIns="0" tIns="0" rIns="0" bIns="0" rtlCol="0" anchor="t"/>
          <a:lstStyle/>
          <a:p>
            <a:pPr marL="0" indent="0">
              <a:buNone/>
            </a:pPr>
            <a:r>
              <a:rPr lang="en-US" sz="1400" dirty="0">
                <a:solidFill>
                  <a:srgbClr val="5C5C5C"/>
                </a:solidFill>
                <a:latin typeface="Segoe UI" pitchFamily="34" charset="0"/>
                <a:ea typeface="Segoe UI" pitchFamily="34" charset="-122"/>
                <a:cs typeface="Segoe UI" pitchFamily="34" charset="-120"/>
              </a:rPr>
              <a:t>Authenticated access and limited permissions.</a:t>
            </a:r>
            <a:endParaRPr lang="en-US" sz="1400" dirty="0"/>
          </a:p>
        </p:txBody>
      </p:sp>
      <p:sp>
        <p:nvSpPr>
          <p:cNvPr id="17" name="Text 15"/>
          <p:cNvSpPr/>
          <p:nvPr/>
        </p:nvSpPr>
        <p:spPr>
          <a:xfrm>
            <a:off x="2779776" y="2688336"/>
            <a:ext cx="2057400" cy="640080"/>
          </a:xfrm>
          <a:prstGeom prst="rect">
            <a:avLst/>
          </a:prstGeom>
          <a:noFill/>
          <a:ln/>
        </p:spPr>
        <p:txBody>
          <a:bodyPr wrap="square" lIns="0" tIns="0" rIns="0" bIns="0" rtlCol="0" anchor="t"/>
          <a:lstStyle/>
          <a:p>
            <a:pPr marL="0" indent="0">
              <a:buNone/>
            </a:pPr>
            <a:r>
              <a:rPr lang="en-US" sz="1800" b="1" dirty="0">
                <a:solidFill>
                  <a:srgbClr val="242424"/>
                </a:solidFill>
                <a:latin typeface="Segoe UI" pitchFamily="34" charset="0"/>
                <a:ea typeface="Segoe UI" pitchFamily="34" charset="-122"/>
                <a:cs typeface="Segoe UI" pitchFamily="34" charset="-120"/>
              </a:rPr>
              <a:t>Choice, reasoning and autonomy.</a:t>
            </a:r>
            <a:endParaRPr lang="en-US" sz="1800" dirty="0"/>
          </a:p>
        </p:txBody>
      </p:sp>
      <p:sp>
        <p:nvSpPr>
          <p:cNvPr id="18" name="Text 16"/>
          <p:cNvSpPr/>
          <p:nvPr/>
        </p:nvSpPr>
        <p:spPr>
          <a:xfrm>
            <a:off x="2779776" y="3419856"/>
            <a:ext cx="2121408" cy="466344"/>
          </a:xfrm>
          <a:prstGeom prst="rect">
            <a:avLst/>
          </a:prstGeom>
          <a:noFill/>
          <a:ln/>
        </p:spPr>
        <p:txBody>
          <a:bodyPr wrap="square" lIns="0" tIns="0" rIns="0" bIns="0" rtlCol="0" anchor="t"/>
          <a:lstStyle/>
          <a:p>
            <a:pPr marL="0" indent="0">
              <a:buNone/>
            </a:pPr>
            <a:r>
              <a:rPr lang="en-US" sz="1400" dirty="0">
                <a:solidFill>
                  <a:srgbClr val="5C5C5C"/>
                </a:solidFill>
                <a:latin typeface="Segoe UI" pitchFamily="34" charset="0"/>
                <a:ea typeface="Segoe UI" pitchFamily="34" charset="-122"/>
                <a:cs typeface="Segoe UI" pitchFamily="34" charset="-120"/>
              </a:rPr>
              <a:t>Activities designed to support learning.</a:t>
            </a:r>
            <a:endParaRPr lang="en-US" sz="1400" dirty="0"/>
          </a:p>
        </p:txBody>
      </p:sp>
      <p:sp>
        <p:nvSpPr>
          <p:cNvPr id="19" name="Text 17"/>
          <p:cNvSpPr/>
          <p:nvPr/>
        </p:nvSpPr>
        <p:spPr>
          <a:xfrm>
            <a:off x="5449824" y="2688336"/>
            <a:ext cx="2926080" cy="576072"/>
          </a:xfrm>
          <a:prstGeom prst="rect">
            <a:avLst/>
          </a:prstGeom>
          <a:noFill/>
          <a:ln/>
        </p:spPr>
        <p:txBody>
          <a:bodyPr wrap="square" lIns="0" tIns="0" rIns="0" bIns="0" rtlCol="0" anchor="t"/>
          <a:lstStyle/>
          <a:p>
            <a:pPr marL="0" indent="0">
              <a:buNone/>
            </a:pPr>
            <a:r>
              <a:rPr lang="en-US" sz="1800" b="1" dirty="0">
                <a:solidFill>
                  <a:srgbClr val="242424"/>
                </a:solidFill>
                <a:latin typeface="Segoe UI" pitchFamily="34" charset="0"/>
                <a:ea typeface="Segoe UI" pitchFamily="34" charset="-122"/>
                <a:cs typeface="Segoe UI" pitchFamily="34" charset="-120"/>
              </a:rPr>
              <a:t>Not attention for its own sake.</a:t>
            </a:r>
            <a:endParaRPr lang="en-US" sz="1800" dirty="0"/>
          </a:p>
        </p:txBody>
      </p:sp>
      <p:sp>
        <p:nvSpPr>
          <p:cNvPr id="20" name="Text 18"/>
          <p:cNvSpPr/>
          <p:nvPr/>
        </p:nvSpPr>
        <p:spPr>
          <a:xfrm>
            <a:off x="5449824" y="3401568"/>
            <a:ext cx="2926080" cy="457200"/>
          </a:xfrm>
          <a:prstGeom prst="rect">
            <a:avLst/>
          </a:prstGeom>
          <a:noFill/>
          <a:ln/>
        </p:spPr>
        <p:txBody>
          <a:bodyPr wrap="square" lIns="0" tIns="0" rIns="0" bIns="0" rtlCol="0" anchor="t"/>
          <a:lstStyle/>
          <a:p>
            <a:pPr marL="0" indent="0">
              <a:buNone/>
            </a:pPr>
            <a:r>
              <a:rPr lang="en-US" sz="1400" dirty="0">
                <a:solidFill>
                  <a:srgbClr val="242424"/>
                </a:solidFill>
                <a:latin typeface="Segoe UI" pitchFamily="34" charset="0"/>
                <a:ea typeface="Segoe UI" pitchFamily="34" charset="-122"/>
                <a:cs typeface="Segoe UI" pitchFamily="34" charset="-120"/>
              </a:rPr>
              <a:t>Ask for effort suited to the person: choosing, trying and reasoning.</a:t>
            </a:r>
            <a:endParaRPr lang="en-US" sz="1400" dirty="0"/>
          </a:p>
        </p:txBody>
      </p:sp>
      <p:sp>
        <p:nvSpPr>
          <p:cNvPr id="21" name="Text 19"/>
          <p:cNvSpPr/>
          <p:nvPr/>
        </p:nvSpPr>
        <p:spPr>
          <a:xfrm>
            <a:off x="502920" y="4206240"/>
            <a:ext cx="8138160" cy="365760"/>
          </a:xfrm>
          <a:prstGeom prst="rect">
            <a:avLst/>
          </a:prstGeom>
          <a:noFill/>
          <a:ln/>
        </p:spPr>
        <p:txBody>
          <a:bodyPr wrap="square" lIns="0" tIns="0" rIns="0" bIns="0" rtlCol="0" anchor="t"/>
          <a:lstStyle/>
          <a:p>
            <a:pPr marL="0" indent="0">
              <a:buNone/>
            </a:pPr>
            <a:r>
              <a:rPr lang="en-US" sz="2200" b="1" dirty="0">
                <a:solidFill>
                  <a:srgbClr val="B11F4B"/>
                </a:solidFill>
                <a:latin typeface="Segoe UI" pitchFamily="34" charset="0"/>
                <a:ea typeface="Segoe UI" pitchFamily="34" charset="-122"/>
                <a:cs typeface="Segoe UI" pitchFamily="34" charset="-120"/>
              </a:rPr>
              <a:t>Effort should support learning, not longer use.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1129</Words>
  <Application>Microsoft Office PowerPoint</Application>
  <PresentationFormat>On-screen Show (16:9)</PresentationFormat>
  <Paragraphs>85</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Palatino Linotype</vt:lpstr>
      <vt:lpstr>Segoe UI</vt:lpstr>
      <vt:lpstr>Office Theme</vt:lpstr>
      <vt:lpstr>PowerPoint Presentation</vt:lpstr>
      <vt:lpstr>PowerPoint Presentation</vt:lpstr>
      <vt:lpstr>PowerPoint Presentation</vt:lpstr>
      <vt:lpstr>PowerPoint Presentation</vt:lpstr>
    </vt:vector>
  </TitlesOfParts>
  <Company>Lanternina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Lanternina | Four-slide project showcase</dc:title>
  <dc:subject>Lanternina | Hackathon 2026, Rome</dc:subject>
  <dc:creator>Fausto Palma</dc:creator>
  <cp:lastModifiedBy>Fausto Palma</cp:lastModifiedBy>
  <cp:revision>4</cp:revision>
  <dcterms:created xsi:type="dcterms:W3CDTF">2026-09-15T18:16:20Z</dcterms:created>
  <dcterms:modified xsi:type="dcterms:W3CDTF">2026-09-15T19:30:47Z</dcterms:modified>
</cp:coreProperties>
</file>